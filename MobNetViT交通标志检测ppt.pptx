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91" r:id="rId6"/>
    <p:sldId id="263" r:id="rId7"/>
    <p:sldId id="264" r:id="rId8"/>
    <p:sldId id="295" r:id="rId9"/>
    <p:sldId id="267" r:id="rId10"/>
    <p:sldId id="294" r:id="rId11"/>
    <p:sldId id="271" r:id="rId12"/>
    <p:sldId id="287" r:id="rId13"/>
    <p:sldId id="300" r:id="rId14"/>
    <p:sldId id="293" r:id="rId15"/>
    <p:sldId id="276" r:id="rId16"/>
    <p:sldId id="273" r:id="rId17"/>
    <p:sldId id="297" r:id="rId18"/>
    <p:sldId id="275" r:id="rId19"/>
    <p:sldId id="288" r:id="rId20"/>
    <p:sldId id="289" r:id="rId21"/>
    <p:sldId id="292" r:id="rId22"/>
    <p:sldId id="296" r:id="rId23"/>
    <p:sldId id="282" r:id="rId24"/>
    <p:sldId id="290" r:id="rId25"/>
    <p:sldId id="285" r:id="rId26"/>
    <p:sldId id="286" r:id="rId27"/>
  </p:sldIdLst>
  <p:sldSz cx="12192000" cy="6858000" type="screen4x3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96" y="294"/>
      </p:cViewPr>
      <p:guideLst>
        <p:guide orient="horz" pos="20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1" Type="http://schemas.openxmlformats.org/officeDocument/2006/relationships/tags" Target="../tags/tag191.xml"/><Relationship Id="rId20" Type="http://schemas.openxmlformats.org/officeDocument/2006/relationships/tags" Target="../tags/tag190.xml"/><Relationship Id="rId2" Type="http://schemas.openxmlformats.org/officeDocument/2006/relationships/tags" Target="../tags/tag172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image" Target="../media/image2.png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image" Target="../media/image3.png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image" Target="../media/image4.png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0" Type="http://schemas.openxmlformats.org/officeDocument/2006/relationships/tags" Target="../tags/tag316.xml"/><Relationship Id="rId2" Type="http://schemas.openxmlformats.org/officeDocument/2006/relationships/tags" Target="../tags/tag299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tags" Target="../tags/tag307.xml"/><Relationship Id="rId10" Type="http://schemas.openxmlformats.org/officeDocument/2006/relationships/tags" Target="../tags/tag306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image" Target="../media/image2.png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6" Type="http://schemas.openxmlformats.org/officeDocument/2006/relationships/tags" Target="../tags/tag330.xml"/><Relationship Id="rId15" Type="http://schemas.openxmlformats.org/officeDocument/2006/relationships/tags" Target="../tags/tag329.xml"/><Relationship Id="rId14" Type="http://schemas.openxmlformats.org/officeDocument/2006/relationships/tags" Target="../tags/tag328.xml"/><Relationship Id="rId13" Type="http://schemas.openxmlformats.org/officeDocument/2006/relationships/tags" Target="../tags/tag327.xml"/><Relationship Id="rId12" Type="http://schemas.openxmlformats.org/officeDocument/2006/relationships/tags" Target="../tags/tag326.xml"/><Relationship Id="rId11" Type="http://schemas.openxmlformats.org/officeDocument/2006/relationships/tags" Target="../tags/tag325.xml"/><Relationship Id="rId10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image" Target="../media/image1.png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9" Type="http://schemas.openxmlformats.org/officeDocument/2006/relationships/tags" Target="../tags/tag347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8" Type="http://schemas.openxmlformats.org/officeDocument/2006/relationships/tags" Target="../tags/tag364.xml"/><Relationship Id="rId17" Type="http://schemas.openxmlformats.org/officeDocument/2006/relationships/tags" Target="../tags/tag363.xml"/><Relationship Id="rId16" Type="http://schemas.openxmlformats.org/officeDocument/2006/relationships/tags" Target="../tags/tag362.xml"/><Relationship Id="rId15" Type="http://schemas.openxmlformats.org/officeDocument/2006/relationships/tags" Target="../tags/tag361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tags" Target="../tags/tag358.xml"/><Relationship Id="rId11" Type="http://schemas.openxmlformats.org/officeDocument/2006/relationships/tags" Target="../tags/tag357.xml"/><Relationship Id="rId10" Type="http://schemas.openxmlformats.org/officeDocument/2006/relationships/tags" Target="../tags/tag356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402.xml"/><Relationship Id="rId8" Type="http://schemas.openxmlformats.org/officeDocument/2006/relationships/tags" Target="../tags/tag401.xml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10.xml"/><Relationship Id="rId8" Type="http://schemas.openxmlformats.org/officeDocument/2006/relationships/tags" Target="../tags/tag409.xml"/><Relationship Id="rId7" Type="http://schemas.openxmlformats.org/officeDocument/2006/relationships/tags" Target="../tags/tag408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4" Type="http://schemas.openxmlformats.org/officeDocument/2006/relationships/tags" Target="../tags/tag405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1" Type="http://schemas.openxmlformats.org/officeDocument/2006/relationships/tags" Target="../tags/tag412.xml"/><Relationship Id="rId10" Type="http://schemas.openxmlformats.org/officeDocument/2006/relationships/tags" Target="../tags/tag411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/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416560" y="762635"/>
            <a:ext cx="11360150" cy="5676900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pic>
        <p:nvPicPr>
          <p:cNvPr id="11" name="图片 10" descr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98870" y="1653540"/>
            <a:ext cx="5086985" cy="3742055"/>
          </a:xfrm>
          <a:prstGeom prst="rect">
            <a:avLst/>
          </a:prstGeom>
        </p:spPr>
      </p:pic>
      <p:sp>
        <p:nvSpPr>
          <p:cNvPr id="10" name="日期占位符 3"/>
          <p:cNvSpPr/>
          <p:nvPr>
            <p:ph type="dt" sz="half" idx="16385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/>
          <p:nvPr>
            <p:ph type="ftr" sz="quarter" idx="16386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/>
          <p:nvPr>
            <p:ph type="sldNum" sz="quarter" idx="16387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矩形 14"/>
          <p:cNvSpPr/>
          <p:nvPr userDrawn="1">
            <p:custDataLst>
              <p:tags r:id="rId9"/>
            </p:custDataLst>
          </p:nvPr>
        </p:nvSpPr>
        <p:spPr>
          <a:xfrm>
            <a:off x="416243" y="408305"/>
            <a:ext cx="11360150" cy="703580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21" name="任意多边形 11"/>
          <p:cNvSpPr/>
          <p:nvPr userDrawn="1">
            <p:custDataLst>
              <p:tags r:id="rId10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副标题 2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/>
          <p:nvPr>
            <p:ph type="ctrTitle" idx="16388" hasCustomPrompt="1"/>
            <p:custDataLst>
              <p:tags r:id="rId12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cxnSp>
        <p:nvCxnSpPr>
          <p:cNvPr id="2" name="直接连接符 1"/>
          <p:cNvCxnSpPr/>
          <p:nvPr userDrawn="1">
            <p:custDataLst>
              <p:tags r:id="rId13"/>
            </p:custDataLst>
          </p:nvPr>
        </p:nvCxnSpPr>
        <p:spPr>
          <a:xfrm flipH="1">
            <a:off x="11080750" y="7029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>
            <p:custDataLst>
              <p:tags r:id="rId14"/>
            </p:custDataLst>
          </p:nvPr>
        </p:nvCxnSpPr>
        <p:spPr>
          <a:xfrm flipH="1">
            <a:off x="11080750" y="8172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燕尾形 10"/>
          <p:cNvSpPr/>
          <p:nvPr userDrawn="1">
            <p:custDataLst>
              <p:tags r:id="rId15"/>
            </p:custDataLst>
          </p:nvPr>
        </p:nvSpPr>
        <p:spPr>
          <a:xfrm>
            <a:off x="7505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燕尾形 15"/>
          <p:cNvSpPr/>
          <p:nvPr userDrawn="1">
            <p:custDataLst>
              <p:tags r:id="rId16"/>
            </p:custDataLst>
          </p:nvPr>
        </p:nvSpPr>
        <p:spPr>
          <a:xfrm>
            <a:off x="10236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燕尾形 17"/>
          <p:cNvSpPr/>
          <p:nvPr userDrawn="1">
            <p:custDataLst>
              <p:tags r:id="rId17"/>
            </p:custDataLst>
          </p:nvPr>
        </p:nvSpPr>
        <p:spPr>
          <a:xfrm>
            <a:off x="12966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燕尾形 19"/>
          <p:cNvSpPr/>
          <p:nvPr userDrawn="1">
            <p:custDataLst>
              <p:tags r:id="rId18"/>
            </p:custDataLst>
          </p:nvPr>
        </p:nvSpPr>
        <p:spPr>
          <a:xfrm>
            <a:off x="15697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燕尾形 21"/>
          <p:cNvSpPr/>
          <p:nvPr userDrawn="1">
            <p:custDataLst>
              <p:tags r:id="rId19"/>
            </p:custDataLst>
          </p:nvPr>
        </p:nvSpPr>
        <p:spPr>
          <a:xfrm>
            <a:off x="18427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左标下左内右图-装饰无-默认位置-并列-6_22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/>
          <p:nvPr>
            <p:ph type="pic" idx="16391" hasCustomPrompt="1"/>
            <p:custDataLst>
              <p:tags r:id="rId8"/>
            </p:custDataLst>
          </p:nvPr>
        </p:nvSpPr>
        <p:spPr>
          <a:xfrm>
            <a:off x="8940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/>
          <p:nvPr>
            <p:ph type="body" idx="16386" hasCustomPrompt="1"/>
            <p:custDataLst>
              <p:tags r:id="rId9"/>
            </p:custDataLst>
          </p:nvPr>
        </p:nvSpPr>
        <p:spPr>
          <a:xfrm>
            <a:off x="609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7" hasCustomPrompt="1"/>
            <p:custDataLst>
              <p:tags r:id="rId10"/>
            </p:custDataLst>
          </p:nvPr>
        </p:nvSpPr>
        <p:spPr>
          <a:xfrm>
            <a:off x="609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/>
          <p:nvPr>
            <p:ph type="body" idx="16394" hasCustomPrompt="1"/>
            <p:custDataLst>
              <p:tags r:id="rId11"/>
            </p:custDataLst>
          </p:nvPr>
        </p:nvSpPr>
        <p:spPr>
          <a:xfrm>
            <a:off x="33528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/>
          <p:nvPr>
            <p:ph type="pic" idx="16393" hasCustomPrompt="1"/>
            <p:custDataLst>
              <p:tags r:id="rId12"/>
            </p:custDataLst>
          </p:nvPr>
        </p:nvSpPr>
        <p:spPr>
          <a:xfrm>
            <a:off x="36372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/>
          <p:nvPr>
            <p:ph type="body" idx="16388" hasCustomPrompt="1"/>
            <p:custDataLst>
              <p:tags r:id="rId13"/>
            </p:custDataLst>
          </p:nvPr>
        </p:nvSpPr>
        <p:spPr>
          <a:xfrm>
            <a:off x="3352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/>
          <p:nvPr>
            <p:ph type="body" idx="16389" hasCustomPrompt="1"/>
            <p:custDataLst>
              <p:tags r:id="rId14"/>
            </p:custDataLst>
          </p:nvPr>
        </p:nvSpPr>
        <p:spPr>
          <a:xfrm>
            <a:off x="3352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1" hasCustomPrompt="1"/>
            <p:custDataLst>
              <p:tags r:id="rId7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46482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46482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8" hasCustomPrompt="1"/>
            <p:custDataLst>
              <p:tags r:id="rId10"/>
            </p:custDataLst>
          </p:nvPr>
        </p:nvSpPr>
        <p:spPr>
          <a:xfrm>
            <a:off x="46482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46482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88" hasCustomPrompt="1"/>
            <p:custDataLst>
              <p:tags r:id="rId6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/>
          <p:nvPr>
            <p:ph type="pic" idx="16390" hasCustomPrompt="1"/>
            <p:custDataLst>
              <p:tags r:id="rId6"/>
            </p:custDataLst>
          </p:nvPr>
        </p:nvSpPr>
        <p:spPr>
          <a:xfrm>
            <a:off x="2438400" y="24130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/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/>
          <p:nvPr>
            <p:ph type="pic" idx="16391" hasCustomPrompt="1"/>
            <p:custDataLst>
              <p:tags r:id="rId9"/>
            </p:custDataLst>
          </p:nvPr>
        </p:nvSpPr>
        <p:spPr>
          <a:xfrm>
            <a:off x="8229600" y="24130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/>
          <p:nvPr>
            <p:ph type="body" idx="16388" hasCustomPrompt="1"/>
            <p:custDataLst>
              <p:tags r:id="rId10"/>
            </p:custDataLst>
          </p:nvPr>
        </p:nvSpPr>
        <p:spPr>
          <a:xfrm>
            <a:off x="64008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64008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/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/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/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/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835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089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/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/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/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/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/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/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/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/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/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/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/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/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/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/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/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997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556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2997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3556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33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/>
          <p:nvPr>
            <p:ph type="body" idx="16394" hasCustomPrompt="1"/>
            <p:custDataLst>
              <p:tags r:id="rId6"/>
            </p:custDataLst>
          </p:nvPr>
        </p:nvSpPr>
        <p:spPr>
          <a:xfrm>
            <a:off x="21336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/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/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6" hasCustomPrompt="1"/>
            <p:custDataLst>
              <p:tags r:id="rId10"/>
            </p:custDataLst>
          </p:nvPr>
        </p:nvSpPr>
        <p:spPr>
          <a:xfrm>
            <a:off x="77724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/>
          <p:nvPr>
            <p:ph type="pic" idx="16397" hasCustomPrompt="1"/>
            <p:custDataLst>
              <p:tags r:id="rId11"/>
            </p:custDataLst>
          </p:nvPr>
        </p:nvSpPr>
        <p:spPr>
          <a:xfrm>
            <a:off x="62484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/>
          <p:nvPr>
            <p:ph type="body" idx="16388" hasCustomPrompt="1"/>
            <p:custDataLst>
              <p:tags r:id="rId12"/>
            </p:custDataLst>
          </p:nvPr>
        </p:nvSpPr>
        <p:spPr>
          <a:xfrm>
            <a:off x="80772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89" hasCustomPrompt="1"/>
            <p:custDataLst>
              <p:tags r:id="rId13"/>
            </p:custDataLst>
          </p:nvPr>
        </p:nvSpPr>
        <p:spPr>
          <a:xfrm>
            <a:off x="80772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/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/>
          <p:nvPr>
            <p:ph type="pic" idx="16399" hasCustomPrompt="1"/>
            <p:custDataLst>
              <p:tags r:id="rId15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/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/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/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/>
          <p:nvPr>
            <p:ph type="pic" idx="16401" hasCustomPrompt="1"/>
            <p:custDataLst>
              <p:tags r:id="rId19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/>
          <p:nvPr>
            <p:ph type="body" idx="16392" hasCustomPrompt="1"/>
            <p:custDataLst>
              <p:tags r:id="rId20"/>
            </p:custDataLst>
          </p:nvPr>
        </p:nvSpPr>
        <p:spPr>
          <a:xfrm>
            <a:off x="65532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/>
          <p:nvPr>
            <p:ph type="body" idx="16393" hasCustomPrompt="1"/>
            <p:custDataLst>
              <p:tags r:id="rId21"/>
            </p:custDataLst>
          </p:nvPr>
        </p:nvSpPr>
        <p:spPr>
          <a:xfrm>
            <a:off x="65532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/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/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/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/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/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/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/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/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/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/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/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/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/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415925" y="560705"/>
            <a:ext cx="11360150" cy="5915025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pic>
        <p:nvPicPr>
          <p:cNvPr id="10" name="图片 9" descr="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1350" y="2090420"/>
            <a:ext cx="4429760" cy="3120390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>
            <p:custDataLst>
              <p:tags r:id="rId6"/>
            </p:custDataLst>
          </p:nvPr>
        </p:nvCxnSpPr>
        <p:spPr>
          <a:xfrm flipH="1">
            <a:off x="2080895" y="1209040"/>
            <a:ext cx="9044940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>
            <p:custDataLst>
              <p:tags r:id="rId7"/>
            </p:custDataLst>
          </p:nvPr>
        </p:nvSpPr>
        <p:spPr>
          <a:xfrm>
            <a:off x="415925" y="419735"/>
            <a:ext cx="11360150" cy="278765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12" name="日期占位符 4"/>
          <p:cNvSpPr/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5"/>
          <p:cNvSpPr/>
          <p:nvPr>
            <p:ph type="ftr" sz="quarter" idx="16386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6"/>
          <p:cNvSpPr/>
          <p:nvPr>
            <p:ph type="sldNum" sz="quarter" idx="16387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燕尾形 6"/>
          <p:cNvSpPr/>
          <p:nvPr userDrawn="1">
            <p:custDataLst>
              <p:tags r:id="rId11"/>
            </p:custDataLst>
          </p:nvPr>
        </p:nvSpPr>
        <p:spPr>
          <a:xfrm>
            <a:off x="109093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燕尾形 15"/>
          <p:cNvSpPr/>
          <p:nvPr userDrawn="1">
            <p:custDataLst>
              <p:tags r:id="rId12"/>
            </p:custDataLst>
          </p:nvPr>
        </p:nvSpPr>
        <p:spPr>
          <a:xfrm>
            <a:off x="136398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 userDrawn="1">
            <p:custDataLst>
              <p:tags r:id="rId13"/>
            </p:custDataLst>
          </p:nvPr>
        </p:nvSpPr>
        <p:spPr>
          <a:xfrm>
            <a:off x="163703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3"/>
          <p:cNvSpPr/>
          <p:nvPr userDrawn="1">
            <p:custDataLst>
              <p:tags r:id="rId14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标题 1"/>
          <p:cNvSpPr/>
          <p:nvPr>
            <p:ph type="title" idx="16388" hasCustomPrompt="1"/>
            <p:custDataLst>
              <p:tags r:id="rId15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/>
          <p:nvPr>
            <p:ph type="body" sz="quarter" idx="16389" hasCustomPrompt="1"/>
            <p:custDataLst>
              <p:tags r:id="rId16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/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/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/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/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/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/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/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/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/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/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/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/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/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/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装饰  8"/>
          <p:cNvSpPr/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0" name="文本占位符 29"/>
          <p:cNvSpPr/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6"/>
          <p:cNvSpPr/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415925" y="369570"/>
            <a:ext cx="11360150" cy="6113145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415925" y="339725"/>
            <a:ext cx="11360150" cy="278765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pic>
        <p:nvPicPr>
          <p:cNvPr id="5" name="图片 4" descr="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90090" y="1748790"/>
            <a:ext cx="1907540" cy="1569720"/>
          </a:xfrm>
          <a:prstGeom prst="rect">
            <a:avLst/>
          </a:prstGeom>
        </p:spPr>
      </p:pic>
      <p:sp>
        <p:nvSpPr>
          <p:cNvPr id="2" name="标题 1"/>
          <p:cNvSpPr/>
          <p:nvPr>
            <p:ph type="title" hasCustomPrompt="1"/>
            <p:custDataLst>
              <p:tags r:id="rId7"/>
            </p:custDataLst>
          </p:nvPr>
        </p:nvSpPr>
        <p:spPr>
          <a:xfrm>
            <a:off x="2028190" y="3204845"/>
            <a:ext cx="3241675" cy="1290955"/>
          </a:xfrm>
        </p:spPr>
        <p:txBody>
          <a:bodyPr wrap="square" anchor="b">
            <a:normAutofit/>
          </a:bodyPr>
          <a:lstStyle>
            <a:lvl1pPr>
              <a:defRPr sz="660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/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/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/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 2"/>
          <p:cNvSpPr/>
          <p:nvPr userDrawn="1">
            <p:custDataLst>
              <p:tags r:id="rId11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/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/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/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/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/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/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/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/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/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416560" y="762635"/>
            <a:ext cx="11360150" cy="5837555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416243" y="408305"/>
            <a:ext cx="11360150" cy="703580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cxnSp>
        <p:nvCxnSpPr>
          <p:cNvPr id="59" name="直接连接符 58"/>
          <p:cNvCxnSpPr/>
          <p:nvPr userDrawn="1">
            <p:custDataLst>
              <p:tags r:id="rId5"/>
            </p:custDataLst>
          </p:nvPr>
        </p:nvCxnSpPr>
        <p:spPr>
          <a:xfrm flipH="1">
            <a:off x="11080750" y="7029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 flipH="1">
            <a:off x="11080750" y="8172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13270" y="1774825"/>
            <a:ext cx="4416425" cy="3517265"/>
          </a:xfrm>
          <a:prstGeom prst="rect">
            <a:avLst/>
          </a:prstGeom>
        </p:spPr>
      </p:pic>
      <p:sp>
        <p:nvSpPr>
          <p:cNvPr id="26" name="任意多边形 25"/>
          <p:cNvSpPr/>
          <p:nvPr userDrawn="1">
            <p:custDataLst>
              <p:tags r:id="rId9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日期占位符 3"/>
          <p:cNvSpPr/>
          <p:nvPr>
            <p:ph type="dt" sz="half" idx="16385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/>
          <p:nvPr>
            <p:ph type="ftr" sz="quarter" idx="16386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6" name="灯片编号占位符 5"/>
          <p:cNvSpPr/>
          <p:nvPr>
            <p:ph type="sldNum" sz="quarter" idx="16387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8" name="燕尾形 10"/>
          <p:cNvSpPr/>
          <p:nvPr userDrawn="1">
            <p:custDataLst>
              <p:tags r:id="rId13"/>
            </p:custDataLst>
          </p:nvPr>
        </p:nvSpPr>
        <p:spPr>
          <a:xfrm>
            <a:off x="7505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燕尾形 15"/>
          <p:cNvSpPr/>
          <p:nvPr userDrawn="1">
            <p:custDataLst>
              <p:tags r:id="rId14"/>
            </p:custDataLst>
          </p:nvPr>
        </p:nvSpPr>
        <p:spPr>
          <a:xfrm>
            <a:off x="10236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燕尾形 17"/>
          <p:cNvSpPr/>
          <p:nvPr userDrawn="1">
            <p:custDataLst>
              <p:tags r:id="rId15"/>
            </p:custDataLst>
          </p:nvPr>
        </p:nvSpPr>
        <p:spPr>
          <a:xfrm>
            <a:off x="12966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燕尾形 19"/>
          <p:cNvSpPr/>
          <p:nvPr userDrawn="1">
            <p:custDataLst>
              <p:tags r:id="rId16"/>
            </p:custDataLst>
          </p:nvPr>
        </p:nvSpPr>
        <p:spPr>
          <a:xfrm>
            <a:off x="15697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时间占位符 7"/>
          <p:cNvSpPr/>
          <p:nvPr>
            <p:ph type="body" sz="quarter" idx="16389" hasCustomPrompt="1"/>
            <p:custDataLst>
              <p:tags r:id="rId17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23" name="燕尾形 22"/>
          <p:cNvSpPr/>
          <p:nvPr userDrawn="1">
            <p:custDataLst>
              <p:tags r:id="rId18"/>
            </p:custDataLst>
          </p:nvPr>
        </p:nvSpPr>
        <p:spPr>
          <a:xfrm>
            <a:off x="18427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/>
          <p:nvPr>
            <p:ph type="ctrTitle" idx="16388" hasCustomPrompt="1"/>
            <p:custDataLst>
              <p:tags r:id="rId19"/>
            </p:custDataLst>
          </p:nvPr>
        </p:nvSpPr>
        <p:spPr>
          <a:xfrm>
            <a:off x="1016000" y="2159000"/>
            <a:ext cx="6097270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/>
          <p:nvPr>
            <p:ph type="body" sz="quarter" idx="16390" hasCustomPrompt="1"/>
            <p:custDataLst>
              <p:tags r:id="rId20"/>
            </p:custDataLst>
          </p:nvPr>
        </p:nvSpPr>
        <p:spPr>
          <a:xfrm>
            <a:off x="1016000" y="4749800"/>
            <a:ext cx="2540882" cy="533400"/>
          </a:xfrm>
          <a:solidFill>
            <a:schemeClr val="accent1"/>
          </a:solidFill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415925" y="560705"/>
            <a:ext cx="11360150" cy="5915025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pic>
        <p:nvPicPr>
          <p:cNvPr id="10" name="图片 9" descr="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1350" y="2090420"/>
            <a:ext cx="4429760" cy="3120390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>
            <p:custDataLst>
              <p:tags r:id="rId6"/>
            </p:custDataLst>
          </p:nvPr>
        </p:nvCxnSpPr>
        <p:spPr>
          <a:xfrm flipH="1">
            <a:off x="2080895" y="1209040"/>
            <a:ext cx="9044940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>
            <p:custDataLst>
              <p:tags r:id="rId7"/>
            </p:custDataLst>
          </p:nvPr>
        </p:nvSpPr>
        <p:spPr>
          <a:xfrm>
            <a:off x="415925" y="419735"/>
            <a:ext cx="11360150" cy="278765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12" name="日期占位符 4"/>
          <p:cNvSpPr/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5"/>
          <p:cNvSpPr/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6"/>
          <p:cNvSpPr/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燕尾形 6"/>
          <p:cNvSpPr/>
          <p:nvPr userDrawn="1">
            <p:custDataLst>
              <p:tags r:id="rId11"/>
            </p:custDataLst>
          </p:nvPr>
        </p:nvSpPr>
        <p:spPr>
          <a:xfrm>
            <a:off x="109093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燕尾形 15"/>
          <p:cNvSpPr/>
          <p:nvPr userDrawn="1">
            <p:custDataLst>
              <p:tags r:id="rId12"/>
            </p:custDataLst>
          </p:nvPr>
        </p:nvSpPr>
        <p:spPr>
          <a:xfrm>
            <a:off x="136398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 userDrawn="1">
            <p:custDataLst>
              <p:tags r:id="rId13"/>
            </p:custDataLst>
          </p:nvPr>
        </p:nvSpPr>
        <p:spPr>
          <a:xfrm>
            <a:off x="1637030" y="1106805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3"/>
          <p:cNvSpPr/>
          <p:nvPr userDrawn="1">
            <p:custDataLst>
              <p:tags r:id="rId14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标题 1"/>
          <p:cNvSpPr/>
          <p:nvPr>
            <p:ph type="title" idx="17826049" hasCustomPrompt="1"/>
            <p:custDataLst>
              <p:tags r:id="rId15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/>
          <p:nvPr>
            <p:ph type="body" sz="quarter" idx="17826561" hasCustomPrompt="1"/>
            <p:custDataLst>
              <p:tags r:id="rId16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72211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2">
                  <a:lumMod val="9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416560" y="762635"/>
            <a:ext cx="11360150" cy="5676900"/>
          </a:xfrm>
          <a:prstGeom prst="rect">
            <a:avLst/>
          </a:prstGeom>
          <a:solidFill>
            <a:schemeClr val="bg1"/>
          </a:solidFill>
          <a:ln w="47625">
            <a:noFill/>
          </a:ln>
          <a:effectLst>
            <a:outerShdw blurRad="431800" dist="1270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pic>
        <p:nvPicPr>
          <p:cNvPr id="11" name="图片 10" descr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98870" y="1653540"/>
            <a:ext cx="5086985" cy="3742055"/>
          </a:xfrm>
          <a:prstGeom prst="rect">
            <a:avLst/>
          </a:prstGeom>
        </p:spPr>
      </p:pic>
      <p:sp>
        <p:nvSpPr>
          <p:cNvPr id="10" name="日期占位符 3"/>
          <p:cNvSpPr/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/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/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矩形 14"/>
          <p:cNvSpPr/>
          <p:nvPr userDrawn="1">
            <p:custDataLst>
              <p:tags r:id="rId9"/>
            </p:custDataLst>
          </p:nvPr>
        </p:nvSpPr>
        <p:spPr>
          <a:xfrm>
            <a:off x="416243" y="408305"/>
            <a:ext cx="11360150" cy="703580"/>
          </a:xfrm>
          <a:prstGeom prst="rect">
            <a:avLst/>
          </a:prstGeom>
          <a:solidFill>
            <a:schemeClr val="accent1"/>
          </a:solidFill>
          <a:ln w="476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江城圆体 600W" charset="-122"/>
            </a:endParaRPr>
          </a:p>
        </p:txBody>
      </p:sp>
      <p:sp>
        <p:nvSpPr>
          <p:cNvPr id="21" name="任意多边形 11"/>
          <p:cNvSpPr/>
          <p:nvPr userDrawn="1">
            <p:custDataLst>
              <p:tags r:id="rId10"/>
            </p:custDataLst>
          </p:nvPr>
        </p:nvSpPr>
        <p:spPr>
          <a:xfrm>
            <a:off x="0" y="5821680"/>
            <a:ext cx="12190730" cy="10363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副标题 2"/>
          <p:cNvSpPr/>
          <p:nvPr>
            <p:ph type="body" idx="17826305" hasCustomPrompt="1"/>
            <p:custDataLst>
              <p:tags r:id="rId11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/>
          <p:nvPr>
            <p:ph type="ctrTitle" idx="17826049" hasCustomPrompt="1"/>
            <p:custDataLst>
              <p:tags r:id="rId12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/>
                    </a:gs>
                    <a:gs pos="100000">
                      <a:schemeClr val="accent4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cxnSp>
        <p:nvCxnSpPr>
          <p:cNvPr id="2" name="直接连接符 1"/>
          <p:cNvCxnSpPr/>
          <p:nvPr userDrawn="1">
            <p:custDataLst>
              <p:tags r:id="rId13"/>
            </p:custDataLst>
          </p:nvPr>
        </p:nvCxnSpPr>
        <p:spPr>
          <a:xfrm flipH="1">
            <a:off x="11080750" y="7029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>
            <p:custDataLst>
              <p:tags r:id="rId14"/>
            </p:custDataLst>
          </p:nvPr>
        </p:nvCxnSpPr>
        <p:spPr>
          <a:xfrm flipH="1">
            <a:off x="11080750" y="817245"/>
            <a:ext cx="258445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燕尾形 10"/>
          <p:cNvSpPr/>
          <p:nvPr userDrawn="1">
            <p:custDataLst>
              <p:tags r:id="rId15"/>
            </p:custDataLst>
          </p:nvPr>
        </p:nvSpPr>
        <p:spPr>
          <a:xfrm>
            <a:off x="7505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燕尾形 15"/>
          <p:cNvSpPr/>
          <p:nvPr userDrawn="1">
            <p:custDataLst>
              <p:tags r:id="rId16"/>
            </p:custDataLst>
          </p:nvPr>
        </p:nvSpPr>
        <p:spPr>
          <a:xfrm>
            <a:off x="10236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燕尾形 17"/>
          <p:cNvSpPr/>
          <p:nvPr userDrawn="1">
            <p:custDataLst>
              <p:tags r:id="rId17"/>
            </p:custDataLst>
          </p:nvPr>
        </p:nvSpPr>
        <p:spPr>
          <a:xfrm>
            <a:off x="12966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燕尾形 19"/>
          <p:cNvSpPr/>
          <p:nvPr userDrawn="1">
            <p:custDataLst>
              <p:tags r:id="rId18"/>
            </p:custDataLst>
          </p:nvPr>
        </p:nvSpPr>
        <p:spPr>
          <a:xfrm>
            <a:off x="156972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燕尾形 21"/>
          <p:cNvSpPr/>
          <p:nvPr userDrawn="1">
            <p:custDataLst>
              <p:tags r:id="rId19"/>
            </p:custDataLst>
          </p:nvPr>
        </p:nvSpPr>
        <p:spPr>
          <a:xfrm>
            <a:off x="1842770" y="655320"/>
            <a:ext cx="137795" cy="204470"/>
          </a:xfrm>
          <a:prstGeom prst="chevron">
            <a:avLst>
              <a:gd name="adj" fmla="val 54658"/>
            </a:avLst>
          </a:prstGeom>
          <a:solidFill>
            <a:schemeClr val="accent1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/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/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/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/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/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/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/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/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/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/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/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/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/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/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/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8" hasCustomPrompt="1"/>
            <p:custDataLst>
              <p:tags r:id="rId5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/>
          <p:nvPr>
            <p:ph type="body" idx="16389" hasCustomPrompt="1"/>
            <p:custDataLst>
              <p:tags r:id="rId6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装饰  7"/>
          <p:cNvSpPr/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/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装饰  0"/>
          <p:cNvSpPr/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/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860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/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860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文本占位符 4"/>
          <p:cNvSpPr/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860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6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/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3810000"/>
          </a:xfrm>
          <a:custGeom>
            <a:avLst/>
            <a:gdLst>
              <a:gd name="connisteX0" fmla="*/ 0 w 3454400"/>
              <a:gd name="connsiteY0" fmla="*/ 203200 h 3810000"/>
              <a:gd name="connisteX1" fmla="*/ 203200 w 3454400"/>
              <a:gd name="connsiteY1" fmla="*/ 0 h 3810000"/>
              <a:gd name="connisteX2" fmla="*/ 3251200 w 3454400"/>
              <a:gd name="connsiteY2" fmla="*/ 0 h 3810000"/>
              <a:gd name="connisteX3" fmla="*/ 3454400 w 3454400"/>
              <a:gd name="connsiteY3" fmla="*/ 203200 h 3810000"/>
              <a:gd name="connisteX4" fmla="*/ 3454400 w 3454400"/>
              <a:gd name="connsiteY4" fmla="*/ 3606800 h 3810000"/>
              <a:gd name="connisteX5" fmla="*/ 3251200 w 3454400"/>
              <a:gd name="connsiteY5" fmla="*/ 3810000 h 3810000"/>
              <a:gd name="connisteX6" fmla="*/ 203200 w 3454400"/>
              <a:gd name="connsiteY6" fmla="*/ 3810000 h 3810000"/>
              <a:gd name="connisteX7" fmla="*/ 0 w 3454400"/>
              <a:gd name="connsiteY7" fmla="*/ 3606800 h 3810000"/>
              <a:gd name="connisteX8" fmla="*/ 0 w 3454400"/>
              <a:gd name="connsiteY8" fmla="*/ 203200 h 381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81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606800"/>
                </a:lnTo>
                <a:cubicBezTo>
                  <a:pt x="3454400" y="3719024"/>
                  <a:pt x="3363424" y="3810000"/>
                  <a:pt x="3251200" y="3810000"/>
                </a:cubicBezTo>
                <a:lnTo>
                  <a:pt x="203200" y="3810000"/>
                </a:lnTo>
                <a:cubicBezTo>
                  <a:pt x="90976" y="3810000"/>
                  <a:pt x="0" y="3719024"/>
                  <a:pt x="0" y="360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/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8" hasCustomPrompt="1"/>
            <p:custDataLst>
              <p:tags r:id="rId5"/>
            </p:custDataLst>
          </p:nvPr>
        </p:nvSpPr>
        <p:spPr>
          <a:xfrm>
            <a:off x="914400" y="35560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/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3810000"/>
          </a:xfrm>
          <a:custGeom>
            <a:avLst/>
            <a:gdLst>
              <a:gd name="connisteX0" fmla="*/ 0 w 3454400"/>
              <a:gd name="connsiteY0" fmla="*/ 203200 h 3810000"/>
              <a:gd name="connisteX1" fmla="*/ 203200 w 3454400"/>
              <a:gd name="connsiteY1" fmla="*/ 0 h 3810000"/>
              <a:gd name="connisteX2" fmla="*/ 3251200 w 3454400"/>
              <a:gd name="connsiteY2" fmla="*/ 0 h 3810000"/>
              <a:gd name="connisteX3" fmla="*/ 3454400 w 3454400"/>
              <a:gd name="connsiteY3" fmla="*/ 203200 h 3810000"/>
              <a:gd name="connisteX4" fmla="*/ 3454400 w 3454400"/>
              <a:gd name="connsiteY4" fmla="*/ 3606800 h 3810000"/>
              <a:gd name="connisteX5" fmla="*/ 3251200 w 3454400"/>
              <a:gd name="connsiteY5" fmla="*/ 3810000 h 3810000"/>
              <a:gd name="connisteX6" fmla="*/ 203200 w 3454400"/>
              <a:gd name="connsiteY6" fmla="*/ 3810000 h 3810000"/>
              <a:gd name="connisteX7" fmla="*/ 0 w 3454400"/>
              <a:gd name="connsiteY7" fmla="*/ 3606800 h 3810000"/>
              <a:gd name="connisteX8" fmla="*/ 0 w 3454400"/>
              <a:gd name="connsiteY8" fmla="*/ 203200 h 381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81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606800"/>
                </a:lnTo>
                <a:cubicBezTo>
                  <a:pt x="3454400" y="3719024"/>
                  <a:pt x="3363424" y="3810000"/>
                  <a:pt x="3251200" y="3810000"/>
                </a:cubicBezTo>
                <a:lnTo>
                  <a:pt x="203200" y="3810000"/>
                </a:lnTo>
                <a:cubicBezTo>
                  <a:pt x="90976" y="3810000"/>
                  <a:pt x="0" y="3719024"/>
                  <a:pt x="0" y="360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5" name="文本占位符 4"/>
          <p:cNvSpPr/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4" name="文本占位符 23"/>
          <p:cNvSpPr/>
          <p:nvPr>
            <p:ph type="body" idx="16390" hasCustomPrompt="1"/>
            <p:custDataLst>
              <p:tags r:id="rId8"/>
            </p:custDataLst>
          </p:nvPr>
        </p:nvSpPr>
        <p:spPr>
          <a:xfrm>
            <a:off x="4673600" y="35560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5" name="装饰  2"/>
          <p:cNvSpPr/>
          <p:nvPr>
            <p:ph type="body" idx="16395" hasCustomPrompt="1"/>
            <p:custDataLst>
              <p:tags r:id="rId9"/>
            </p:custDataLst>
          </p:nvPr>
        </p:nvSpPr>
        <p:spPr>
          <a:xfrm>
            <a:off x="8128000" y="1524000"/>
            <a:ext cx="3454400" cy="3810000"/>
          </a:xfrm>
          <a:custGeom>
            <a:avLst/>
            <a:gdLst>
              <a:gd name="connisteX0" fmla="*/ 0 w 3454400"/>
              <a:gd name="connsiteY0" fmla="*/ 203200 h 3810000"/>
              <a:gd name="connisteX1" fmla="*/ 203200 w 3454400"/>
              <a:gd name="connsiteY1" fmla="*/ 0 h 3810000"/>
              <a:gd name="connisteX2" fmla="*/ 3251200 w 3454400"/>
              <a:gd name="connsiteY2" fmla="*/ 0 h 3810000"/>
              <a:gd name="connisteX3" fmla="*/ 3454400 w 3454400"/>
              <a:gd name="connsiteY3" fmla="*/ 203200 h 3810000"/>
              <a:gd name="connisteX4" fmla="*/ 3454400 w 3454400"/>
              <a:gd name="connsiteY4" fmla="*/ 3606800 h 3810000"/>
              <a:gd name="connisteX5" fmla="*/ 3251200 w 3454400"/>
              <a:gd name="connsiteY5" fmla="*/ 3810000 h 3810000"/>
              <a:gd name="connisteX6" fmla="*/ 203200 w 3454400"/>
              <a:gd name="connsiteY6" fmla="*/ 3810000 h 3810000"/>
              <a:gd name="connisteX7" fmla="*/ 0 w 3454400"/>
              <a:gd name="connsiteY7" fmla="*/ 3606800 h 3810000"/>
              <a:gd name="connisteX8" fmla="*/ 0 w 3454400"/>
              <a:gd name="connsiteY8" fmla="*/ 203200 h 381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81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606800"/>
                </a:lnTo>
                <a:cubicBezTo>
                  <a:pt x="3454400" y="3719024"/>
                  <a:pt x="3363424" y="3810000"/>
                  <a:pt x="3251200" y="3810000"/>
                </a:cubicBezTo>
                <a:lnTo>
                  <a:pt x="203200" y="3810000"/>
                </a:lnTo>
                <a:cubicBezTo>
                  <a:pt x="90976" y="3810000"/>
                  <a:pt x="0" y="3719024"/>
                  <a:pt x="0" y="360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文本占位符 25"/>
          <p:cNvSpPr/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7" name="文本占位符 26"/>
          <p:cNvSpPr/>
          <p:nvPr>
            <p:ph type="body" idx="16392" hasCustomPrompt="1"/>
            <p:custDataLst>
              <p:tags r:id="rId11"/>
            </p:custDataLst>
          </p:nvPr>
        </p:nvSpPr>
        <p:spPr>
          <a:xfrm>
            <a:off x="8432800" y="35560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文本占位符 27"/>
          <p:cNvSpPr/>
          <p:nvPr>
            <p:ph type="body" idx="16386" hasCustomPrompt="1"/>
            <p:custDataLst>
              <p:tags r:id="rId12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5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9" name="装饰  7"/>
          <p:cNvSpPr/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/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114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9"/>
          <p:cNvSpPr/>
          <p:nvPr>
            <p:ph type="body" idx="16391" hasCustomPrompt="1"/>
            <p:custDataLst>
              <p:tags r:id="rId6"/>
            </p:custDataLst>
          </p:nvPr>
        </p:nvSpPr>
        <p:spPr>
          <a:xfrm>
            <a:off x="43688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4114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1"/>
          <p:cNvSpPr/>
          <p:nvPr>
            <p:ph type="body" idx="16392" hasCustomPrompt="1"/>
            <p:custDataLst>
              <p:tags r:id="rId8"/>
            </p:custDataLst>
          </p:nvPr>
        </p:nvSpPr>
        <p:spPr>
          <a:xfrm>
            <a:off x="81280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/>
          <p:nvPr>
            <p:ph type="body" idx="16389" hasCustomPrompt="1"/>
            <p:custDataLst>
              <p:tags r:id="rId9"/>
            </p:custDataLst>
          </p:nvPr>
        </p:nvSpPr>
        <p:spPr>
          <a:xfrm>
            <a:off x="8432800" y="4114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装饰  7"/>
          <p:cNvSpPr/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/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装饰  0"/>
          <p:cNvSpPr/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/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3"/>
          <p:cNvSpPr/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6"/>
          <p:cNvSpPr/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336800"/>
            <a:ext cx="3454400" cy="3098800"/>
          </a:xfrm>
          <a:custGeom>
            <a:avLst/>
            <a:gdLst>
              <a:gd name="connisteX0" fmla="*/ 0 w 3454400"/>
              <a:gd name="connsiteY0" fmla="*/ 203200 h 3098800"/>
              <a:gd name="connisteX1" fmla="*/ 203200 w 3454400"/>
              <a:gd name="connsiteY1" fmla="*/ 0 h 3098800"/>
              <a:gd name="connisteX2" fmla="*/ 3251200 w 3454400"/>
              <a:gd name="connsiteY2" fmla="*/ 0 h 3098800"/>
              <a:gd name="connisteX3" fmla="*/ 3454400 w 3454400"/>
              <a:gd name="connsiteY3" fmla="*/ 203200 h 3098800"/>
              <a:gd name="connisteX4" fmla="*/ 3454400 w 3454400"/>
              <a:gd name="connsiteY4" fmla="*/ 2895600 h 3098800"/>
              <a:gd name="connisteX5" fmla="*/ 3251200 w 3454400"/>
              <a:gd name="connsiteY5" fmla="*/ 3098800 h 3098800"/>
              <a:gd name="connisteX6" fmla="*/ 203200 w 3454400"/>
              <a:gd name="connsiteY6" fmla="*/ 3098800 h 3098800"/>
              <a:gd name="connisteX7" fmla="*/ 0 w 3454400"/>
              <a:gd name="connsiteY7" fmla="*/ 2895600 h 3098800"/>
              <a:gd name="connisteX8" fmla="*/ 0 w 34544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895600"/>
                </a:lnTo>
                <a:cubicBezTo>
                  <a:pt x="3454400" y="3007824"/>
                  <a:pt x="3363424" y="3098800"/>
                  <a:pt x="32512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/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302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1" name="文本占位符 10"/>
          <p:cNvSpPr/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9"/>
          <p:cNvSpPr/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336800"/>
            <a:ext cx="3454400" cy="3098800"/>
          </a:xfrm>
          <a:custGeom>
            <a:avLst/>
            <a:gdLst>
              <a:gd name="connisteX0" fmla="*/ 0 w 3454400"/>
              <a:gd name="connsiteY0" fmla="*/ 203200 h 3098800"/>
              <a:gd name="connisteX1" fmla="*/ 203200 w 3454400"/>
              <a:gd name="connsiteY1" fmla="*/ 0 h 3098800"/>
              <a:gd name="connisteX2" fmla="*/ 3251200 w 3454400"/>
              <a:gd name="connsiteY2" fmla="*/ 0 h 3098800"/>
              <a:gd name="connisteX3" fmla="*/ 3454400 w 3454400"/>
              <a:gd name="connsiteY3" fmla="*/ 203200 h 3098800"/>
              <a:gd name="connisteX4" fmla="*/ 3454400 w 3454400"/>
              <a:gd name="connsiteY4" fmla="*/ 2895600 h 3098800"/>
              <a:gd name="connisteX5" fmla="*/ 3251200 w 3454400"/>
              <a:gd name="connsiteY5" fmla="*/ 3098800 h 3098800"/>
              <a:gd name="connisteX6" fmla="*/ 203200 w 3454400"/>
              <a:gd name="connsiteY6" fmla="*/ 3098800 h 3098800"/>
              <a:gd name="connisteX7" fmla="*/ 0 w 3454400"/>
              <a:gd name="connsiteY7" fmla="*/ 2895600 h 3098800"/>
              <a:gd name="connisteX8" fmla="*/ 0 w 34544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895600"/>
                </a:lnTo>
                <a:cubicBezTo>
                  <a:pt x="3454400" y="3007824"/>
                  <a:pt x="3363424" y="3098800"/>
                  <a:pt x="32512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3302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2"/>
          <p:cNvSpPr/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336800"/>
            <a:ext cx="3454400" cy="3098800"/>
          </a:xfrm>
          <a:custGeom>
            <a:avLst/>
            <a:gdLst>
              <a:gd name="connisteX0" fmla="*/ 0 w 3454400"/>
              <a:gd name="connsiteY0" fmla="*/ 203200 h 3098800"/>
              <a:gd name="connisteX1" fmla="*/ 203200 w 3454400"/>
              <a:gd name="connsiteY1" fmla="*/ 0 h 3098800"/>
              <a:gd name="connisteX2" fmla="*/ 3251200 w 3454400"/>
              <a:gd name="connsiteY2" fmla="*/ 0 h 3098800"/>
              <a:gd name="connisteX3" fmla="*/ 3454400 w 3454400"/>
              <a:gd name="connsiteY3" fmla="*/ 203200 h 3098800"/>
              <a:gd name="connisteX4" fmla="*/ 3454400 w 3454400"/>
              <a:gd name="connsiteY4" fmla="*/ 2895600 h 3098800"/>
              <a:gd name="connisteX5" fmla="*/ 3251200 w 3454400"/>
              <a:gd name="connsiteY5" fmla="*/ 3098800 h 3098800"/>
              <a:gd name="connisteX6" fmla="*/ 203200 w 3454400"/>
              <a:gd name="connsiteY6" fmla="*/ 3098800 h 3098800"/>
              <a:gd name="connisteX7" fmla="*/ 0 w 3454400"/>
              <a:gd name="connsiteY7" fmla="*/ 2895600 h 3098800"/>
              <a:gd name="connisteX8" fmla="*/ 0 w 34544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895600"/>
                </a:lnTo>
                <a:cubicBezTo>
                  <a:pt x="3454400" y="3007824"/>
                  <a:pt x="3363424" y="3098800"/>
                  <a:pt x="32512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/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3302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/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2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/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/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21082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/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5" name="文本占位符 4"/>
          <p:cNvSpPr/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/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7338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2"/>
          <p:cNvSpPr/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/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/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3594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23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/>
          <p:nvPr>
            <p:ph idx="16389" hasCustomPrompt="1"/>
            <p:custDataLst>
              <p:tags r:id="rId3"/>
            </p:custDataLst>
          </p:nvPr>
        </p:nvSpPr>
        <p:spPr>
          <a:xfrm>
            <a:off x="6096000" y="609600"/>
            <a:ext cx="5486400" cy="1778000"/>
          </a:xfrm>
          <a:custGeom>
            <a:avLst/>
            <a:gdLst>
              <a:gd name="connisteX0" fmla="*/ 0 w 5486400"/>
              <a:gd name="connsiteY0" fmla="*/ 203200 h 1778000"/>
              <a:gd name="connisteX1" fmla="*/ 203200 w 5486400"/>
              <a:gd name="connsiteY1" fmla="*/ 0 h 1778000"/>
              <a:gd name="connisteX2" fmla="*/ 5283200 w 5486400"/>
              <a:gd name="connsiteY2" fmla="*/ 0 h 1778000"/>
              <a:gd name="connisteX3" fmla="*/ 5486400 w 5486400"/>
              <a:gd name="connsiteY3" fmla="*/ 203200 h 1778000"/>
              <a:gd name="connisteX4" fmla="*/ 5486400 w 5486400"/>
              <a:gd name="connsiteY4" fmla="*/ 1574800 h 1778000"/>
              <a:gd name="connisteX5" fmla="*/ 5283200 w 5486400"/>
              <a:gd name="connsiteY5" fmla="*/ 1778000 h 1778000"/>
              <a:gd name="connisteX6" fmla="*/ 203200 w 5486400"/>
              <a:gd name="connsiteY6" fmla="*/ 1778000 h 1778000"/>
              <a:gd name="connisteX7" fmla="*/ 0 w 5486400"/>
              <a:gd name="connsiteY7" fmla="*/ 1574800 h 1778000"/>
              <a:gd name="connisteX8" fmla="*/ 0 w 54864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1574800"/>
                </a:lnTo>
                <a:cubicBezTo>
                  <a:pt x="5486400" y="1687024"/>
                  <a:pt x="5395424" y="1778000"/>
                  <a:pt x="5283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内容占位符 8"/>
          <p:cNvSpPr/>
          <p:nvPr>
            <p:ph idx="16390" hasCustomPrompt="1"/>
            <p:custDataLst>
              <p:tags r:id="rId4"/>
            </p:custDataLst>
          </p:nvPr>
        </p:nvSpPr>
        <p:spPr>
          <a:xfrm>
            <a:off x="6096000" y="2540000"/>
            <a:ext cx="5486400" cy="1778000"/>
          </a:xfrm>
          <a:custGeom>
            <a:avLst/>
            <a:gdLst>
              <a:gd name="connisteX0" fmla="*/ 0 w 5486400"/>
              <a:gd name="connsiteY0" fmla="*/ 203200 h 1778000"/>
              <a:gd name="connisteX1" fmla="*/ 203200 w 5486400"/>
              <a:gd name="connsiteY1" fmla="*/ 0 h 1778000"/>
              <a:gd name="connisteX2" fmla="*/ 5283200 w 5486400"/>
              <a:gd name="connsiteY2" fmla="*/ 0 h 1778000"/>
              <a:gd name="connisteX3" fmla="*/ 5486400 w 5486400"/>
              <a:gd name="connsiteY3" fmla="*/ 203200 h 1778000"/>
              <a:gd name="connisteX4" fmla="*/ 5486400 w 5486400"/>
              <a:gd name="connsiteY4" fmla="*/ 1574800 h 1778000"/>
              <a:gd name="connisteX5" fmla="*/ 5283200 w 5486400"/>
              <a:gd name="connsiteY5" fmla="*/ 1778000 h 1778000"/>
              <a:gd name="connisteX6" fmla="*/ 203200 w 5486400"/>
              <a:gd name="connsiteY6" fmla="*/ 1778000 h 1778000"/>
              <a:gd name="connisteX7" fmla="*/ 0 w 5486400"/>
              <a:gd name="connsiteY7" fmla="*/ 1574800 h 1778000"/>
              <a:gd name="connisteX8" fmla="*/ 0 w 54864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1574800"/>
                </a:lnTo>
                <a:cubicBezTo>
                  <a:pt x="5486400" y="1687024"/>
                  <a:pt x="5395424" y="1778000"/>
                  <a:pt x="5283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内容占位符 10"/>
          <p:cNvSpPr/>
          <p:nvPr>
            <p:ph idx="16391" hasCustomPrompt="1"/>
            <p:custDataLst>
              <p:tags r:id="rId5"/>
            </p:custDataLst>
          </p:nvPr>
        </p:nvSpPr>
        <p:spPr>
          <a:xfrm>
            <a:off x="6096000" y="4470400"/>
            <a:ext cx="5486400" cy="1778000"/>
          </a:xfrm>
          <a:custGeom>
            <a:avLst/>
            <a:gdLst>
              <a:gd name="connisteX0" fmla="*/ 0 w 5486400"/>
              <a:gd name="connsiteY0" fmla="*/ 203200 h 1778000"/>
              <a:gd name="connisteX1" fmla="*/ 203200 w 5486400"/>
              <a:gd name="connsiteY1" fmla="*/ 0 h 1778000"/>
              <a:gd name="connisteX2" fmla="*/ 5283200 w 5486400"/>
              <a:gd name="connsiteY2" fmla="*/ 0 h 1778000"/>
              <a:gd name="connisteX3" fmla="*/ 5486400 w 5486400"/>
              <a:gd name="connsiteY3" fmla="*/ 203200 h 1778000"/>
              <a:gd name="connisteX4" fmla="*/ 5486400 w 5486400"/>
              <a:gd name="connsiteY4" fmla="*/ 1574800 h 1778000"/>
              <a:gd name="connisteX5" fmla="*/ 5283200 w 5486400"/>
              <a:gd name="connsiteY5" fmla="*/ 1778000 h 1778000"/>
              <a:gd name="connisteX6" fmla="*/ 203200 w 5486400"/>
              <a:gd name="connsiteY6" fmla="*/ 1778000 h 1778000"/>
              <a:gd name="connisteX7" fmla="*/ 0 w 5486400"/>
              <a:gd name="connsiteY7" fmla="*/ 1574800 h 1778000"/>
              <a:gd name="connisteX8" fmla="*/ 0 w 54864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1574800"/>
                </a:lnTo>
                <a:cubicBezTo>
                  <a:pt x="5486400" y="1687024"/>
                  <a:pt x="5395424" y="1778000"/>
                  <a:pt x="5283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/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114800"/>
            <a:ext cx="4876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/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029200"/>
            <a:ext cx="4876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/>
          <p:nvPr>
            <p:ph type="body" idx="16388" hasCustomPrompt="1"/>
            <p:custDataLst>
              <p:tags r:id="rId8"/>
            </p:custDataLst>
          </p:nvPr>
        </p:nvSpPr>
        <p:spPr>
          <a:xfrm>
            <a:off x="609600" y="5943600"/>
            <a:ext cx="4876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0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9" Type="http://schemas.openxmlformats.org/officeDocument/2006/relationships/tags" Target="../tags/tag447.xml"/><Relationship Id="rId48" Type="http://schemas.openxmlformats.org/officeDocument/2006/relationships/tags" Target="../tags/tag446.xml"/><Relationship Id="rId47" Type="http://schemas.openxmlformats.org/officeDocument/2006/relationships/tags" Target="../tags/tag445.xml"/><Relationship Id="rId46" Type="http://schemas.openxmlformats.org/officeDocument/2006/relationships/tags" Target="../tags/tag444.xml"/><Relationship Id="rId45" Type="http://schemas.openxmlformats.org/officeDocument/2006/relationships/tags" Target="../tags/tag443.xml"/><Relationship Id="rId44" Type="http://schemas.openxmlformats.org/officeDocument/2006/relationships/tags" Target="../tags/tag442.xml"/><Relationship Id="rId43" Type="http://schemas.openxmlformats.org/officeDocument/2006/relationships/tags" Target="../tags/tag441.xml"/><Relationship Id="rId42" Type="http://schemas.openxmlformats.org/officeDocument/2006/relationships/tags" Target="../tags/tag440.xml"/><Relationship Id="rId41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4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任意多边形 25"/>
          <p:cNvSpPr/>
          <p:nvPr userDrawn="1">
            <p:custDataLst>
              <p:tags r:id="rId43"/>
            </p:custDataLst>
          </p:nvPr>
        </p:nvSpPr>
        <p:spPr>
          <a:xfrm>
            <a:off x="0" y="6153150"/>
            <a:ext cx="12192000" cy="7048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占位符 1"/>
          <p:cNvSpPr/>
          <p:nvPr>
            <p:ph type="title"/>
            <p:custDataLst>
              <p:tags r:id="rId4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  <p:custDataLst>
              <p:tags r:id="rId4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2"/>
            <p:custDataLst>
              <p:tags r:id="rId4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  <p:custDataLst>
              <p:tags r:id="rId4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4"/>
            <p:custDataLst>
              <p:tags r:id="rId4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4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50.xml"/><Relationship Id="rId2" Type="http://schemas.openxmlformats.org/officeDocument/2006/relationships/tags" Target="../tags/tag449.xml"/><Relationship Id="rId1" Type="http://schemas.openxmlformats.org/officeDocument/2006/relationships/tags" Target="../tags/tag44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2" Type="http://schemas.openxmlformats.org/officeDocument/2006/relationships/slideLayout" Target="../slideLayouts/slideLayout30.xml"/><Relationship Id="rId21" Type="http://schemas.openxmlformats.org/officeDocument/2006/relationships/tags" Target="../tags/tag471.xml"/><Relationship Id="rId20" Type="http://schemas.openxmlformats.org/officeDocument/2006/relationships/tags" Target="../tags/tag470.xml"/><Relationship Id="rId2" Type="http://schemas.openxmlformats.org/officeDocument/2006/relationships/tags" Target="../tags/tag452.xml"/><Relationship Id="rId19" Type="http://schemas.openxmlformats.org/officeDocument/2006/relationships/tags" Target="../tags/tag469.xml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tags" Target="../tags/tag45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3.xml"/><Relationship Id="rId8" Type="http://schemas.openxmlformats.org/officeDocument/2006/relationships/tags" Target="../tags/tag482.xml"/><Relationship Id="rId7" Type="http://schemas.openxmlformats.org/officeDocument/2006/relationships/tags" Target="../tags/tag481.xml"/><Relationship Id="rId6" Type="http://schemas.openxmlformats.org/officeDocument/2006/relationships/tags" Target="../tags/tag480.xml"/><Relationship Id="rId5" Type="http://schemas.openxmlformats.org/officeDocument/2006/relationships/tags" Target="../tags/tag479.xml"/><Relationship Id="rId4" Type="http://schemas.openxmlformats.org/officeDocument/2006/relationships/tags" Target="../tags/tag478.xml"/><Relationship Id="rId3" Type="http://schemas.openxmlformats.org/officeDocument/2006/relationships/tags" Target="../tags/tag477.xml"/><Relationship Id="rId2" Type="http://schemas.openxmlformats.org/officeDocument/2006/relationships/tags" Target="../tags/tag476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485.xml"/><Relationship Id="rId10" Type="http://schemas.openxmlformats.org/officeDocument/2006/relationships/tags" Target="../tags/tag484.xml"/><Relationship Id="rId1" Type="http://schemas.openxmlformats.org/officeDocument/2006/relationships/tags" Target="../tags/tag4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92.xml"/><Relationship Id="rId8" Type="http://schemas.openxmlformats.org/officeDocument/2006/relationships/tags" Target="../tags/tag491.xml"/><Relationship Id="rId7" Type="http://schemas.openxmlformats.org/officeDocument/2006/relationships/image" Target="../media/image6.png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image" Target="../media/image5.jpeg"/><Relationship Id="rId2" Type="http://schemas.openxmlformats.org/officeDocument/2006/relationships/tags" Target="../tags/tag487.xml"/><Relationship Id="rId15" Type="http://schemas.openxmlformats.org/officeDocument/2006/relationships/slideLayout" Target="../slideLayouts/slideLayout27.xml"/><Relationship Id="rId14" Type="http://schemas.openxmlformats.org/officeDocument/2006/relationships/tags" Target="../tags/tag496.xml"/><Relationship Id="rId13" Type="http://schemas.openxmlformats.org/officeDocument/2006/relationships/tags" Target="../tags/tag495.xml"/><Relationship Id="rId12" Type="http://schemas.openxmlformats.org/officeDocument/2006/relationships/tags" Target="../tags/tag494.xml"/><Relationship Id="rId11" Type="http://schemas.openxmlformats.org/officeDocument/2006/relationships/image" Target="../media/image7.jpeg"/><Relationship Id="rId10" Type="http://schemas.openxmlformats.org/officeDocument/2006/relationships/tags" Target="../tags/tag493.xml"/><Relationship Id="rId1" Type="http://schemas.openxmlformats.org/officeDocument/2006/relationships/tags" Target="../tags/tag48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99.xml"/><Relationship Id="rId2" Type="http://schemas.openxmlformats.org/officeDocument/2006/relationships/tags" Target="../tags/tag498.xml"/><Relationship Id="rId1" Type="http://schemas.openxmlformats.org/officeDocument/2006/relationships/tags" Target="../tags/tag49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tags" Target="../tags/tag505.xml"/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" Type="http://schemas.openxmlformats.org/officeDocument/2006/relationships/tags" Target="../tags/tag50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" Type="http://schemas.openxmlformats.org/officeDocument/2006/relationships/tags" Target="../tags/tag50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8.xml"/><Relationship Id="rId6" Type="http://schemas.openxmlformats.org/officeDocument/2006/relationships/tags" Target="../tags/tag515.xml"/><Relationship Id="rId5" Type="http://schemas.openxmlformats.org/officeDocument/2006/relationships/image" Target="../media/image8.png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" Type="http://schemas.openxmlformats.org/officeDocument/2006/relationships/tags" Target="../tags/tag51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tags" Target="../tags/tag522.xml"/><Relationship Id="rId6" Type="http://schemas.openxmlformats.org/officeDocument/2006/relationships/tags" Target="../tags/tag521.xml"/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1" Type="http://schemas.openxmlformats.org/officeDocument/2006/relationships/slideLayout" Target="../slideLayouts/slideLayout48.xml"/><Relationship Id="rId10" Type="http://schemas.openxmlformats.org/officeDocument/2006/relationships/tags" Target="../tags/tag523.xml"/><Relationship Id="rId1" Type="http://schemas.openxmlformats.org/officeDocument/2006/relationships/tags" Target="../tags/tag516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8.xml"/><Relationship Id="rId6" Type="http://schemas.openxmlformats.org/officeDocument/2006/relationships/tags" Target="../tags/tag528.xml"/><Relationship Id="rId5" Type="http://schemas.openxmlformats.org/officeDocument/2006/relationships/image" Target="../media/image11.png"/><Relationship Id="rId4" Type="http://schemas.openxmlformats.org/officeDocument/2006/relationships/tags" Target="../tags/tag527.xml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" Type="http://schemas.openxmlformats.org/officeDocument/2006/relationships/tags" Target="../tags/tag5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31.xml"/><Relationship Id="rId2" Type="http://schemas.openxmlformats.org/officeDocument/2006/relationships/tags" Target="../tags/tag530.xml"/><Relationship Id="rId1" Type="http://schemas.openxmlformats.org/officeDocument/2006/relationships/tags" Target="../tags/tag52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tags" Target="../tags/tag539.xml"/><Relationship Id="rId7" Type="http://schemas.openxmlformats.org/officeDocument/2006/relationships/tags" Target="../tags/tag538.xml"/><Relationship Id="rId6" Type="http://schemas.openxmlformats.org/officeDocument/2006/relationships/tags" Target="../tags/tag537.xml"/><Relationship Id="rId5" Type="http://schemas.openxmlformats.org/officeDocument/2006/relationships/tags" Target="../tags/tag536.xml"/><Relationship Id="rId4" Type="http://schemas.openxmlformats.org/officeDocument/2006/relationships/tags" Target="../tags/tag535.xml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tags" Target="../tags/tag53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47.xml"/><Relationship Id="rId8" Type="http://schemas.openxmlformats.org/officeDocument/2006/relationships/tags" Target="../tags/tag546.xml"/><Relationship Id="rId7" Type="http://schemas.openxmlformats.org/officeDocument/2006/relationships/image" Target="../media/image12.png"/><Relationship Id="rId6" Type="http://schemas.openxmlformats.org/officeDocument/2006/relationships/tags" Target="../tags/tag545.xml"/><Relationship Id="rId5" Type="http://schemas.openxmlformats.org/officeDocument/2006/relationships/tags" Target="../tags/tag544.xml"/><Relationship Id="rId4" Type="http://schemas.openxmlformats.org/officeDocument/2006/relationships/tags" Target="../tags/tag543.xml"/><Relationship Id="rId3" Type="http://schemas.openxmlformats.org/officeDocument/2006/relationships/tags" Target="../tags/tag542.xml"/><Relationship Id="rId2" Type="http://schemas.openxmlformats.org/officeDocument/2006/relationships/tags" Target="../tags/tag541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54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" Type="http://schemas.openxmlformats.org/officeDocument/2006/relationships/tags" Target="../tags/tag54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55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55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554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57.xml"/><Relationship Id="rId2" Type="http://schemas.openxmlformats.org/officeDocument/2006/relationships/tags" Target="../tags/tag556.xml"/><Relationship Id="rId1" Type="http://schemas.openxmlformats.org/officeDocument/2006/relationships/tags" Target="../tags/tag55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tags" Target="../tags/tag56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561.xml"/><Relationship Id="rId3" Type="http://schemas.openxmlformats.org/officeDocument/2006/relationships/tags" Target="../tags/tag560.xml"/><Relationship Id="rId2" Type="http://schemas.openxmlformats.org/officeDocument/2006/relationships/tags" Target="../tags/tag559.xml"/><Relationship Id="rId1" Type="http://schemas.openxmlformats.org/officeDocument/2006/relationships/tags" Target="../tags/tag55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67.xml"/><Relationship Id="rId8" Type="http://schemas.openxmlformats.org/officeDocument/2006/relationships/tags" Target="../tags/tag566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tags" Target="../tags/tag565.xml"/><Relationship Id="rId2" Type="http://schemas.openxmlformats.org/officeDocument/2006/relationships/tags" Target="../tags/tag564.xml"/><Relationship Id="rId10" Type="http://schemas.openxmlformats.org/officeDocument/2006/relationships/slideLayout" Target="../slideLayouts/slideLayout14.xml"/><Relationship Id="rId1" Type="http://schemas.openxmlformats.org/officeDocument/2006/relationships/tags" Target="../tags/tag56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tags" Target="../tags/tag56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79.xml"/><Relationship Id="rId8" Type="http://schemas.openxmlformats.org/officeDocument/2006/relationships/tags" Target="../tags/tag578.xml"/><Relationship Id="rId7" Type="http://schemas.openxmlformats.org/officeDocument/2006/relationships/tags" Target="../tags/tag577.xml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1" Type="http://schemas.openxmlformats.org/officeDocument/2006/relationships/slideLayout" Target="../slideLayouts/slideLayout43.xml"/><Relationship Id="rId10" Type="http://schemas.openxmlformats.org/officeDocument/2006/relationships/tags" Target="../tags/tag580.xml"/><Relationship Id="rId1" Type="http://schemas.openxmlformats.org/officeDocument/2006/relationships/tags" Target="../tags/tag57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83.xml"/><Relationship Id="rId2" Type="http://schemas.openxmlformats.org/officeDocument/2006/relationships/tags" Target="../tags/tag582.xml"/><Relationship Id="rId1" Type="http://schemas.openxmlformats.org/officeDocument/2006/relationships/tags" Target="../tags/tag5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/>
          <p:nvPr>
            <p:ph type="ctrTitle" idx="16388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5700"/>
              <a:t>基于MobileNetViT的交通标志检测系统设计与实现</a:t>
            </a:r>
            <a:endParaRPr lang="zh-CN" altLang="en-US" sz="5700"/>
          </a:p>
        </p:txBody>
      </p:sp>
      <p:sp>
        <p:nvSpPr>
          <p:cNvPr id="4" name="署名占位符 10"/>
          <p:cNvSpPr/>
          <p:nvPr>
            <p:ph type="body" sz="quarter" idx="16390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汇报人：杨馥菊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/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/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500"/>
              <a:t>目录</a:t>
            </a:r>
            <a:endParaRPr lang="zh-CN" altLang="en-US" sz="4500"/>
          </a:p>
        </p:txBody>
      </p:sp>
      <p:sp>
        <p:nvSpPr>
          <p:cNvPr id="4" name="文本占位符 3"/>
          <p:cNvSpPr/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/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引言</a:t>
            </a:r>
            <a:endParaRPr lang="zh-CN" altLang="en-US"/>
          </a:p>
        </p:txBody>
      </p:sp>
      <p:sp>
        <p:nvSpPr>
          <p:cNvPr id="7" name="文本占位符 6"/>
          <p:cNvSpPr/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/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10" name="文本占位符 9"/>
          <p:cNvSpPr/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/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/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模型设计</a:t>
            </a:r>
            <a:endParaRPr lang="zh-CN" altLang="en-US"/>
          </a:p>
        </p:txBody>
      </p:sp>
      <p:sp>
        <p:nvSpPr>
          <p:cNvPr id="13" name="文本占位符 12"/>
          <p:cNvSpPr/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/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/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实验过程及</a:t>
            </a:r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16" name="文本占位符 15"/>
          <p:cNvSpPr/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/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/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19" name="文本占位符 18"/>
          <p:cNvSpPr/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20" name="装饰  8"/>
          <p:cNvSpPr/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/>
          <p:nvPr>
            <p:ph type="body" idx="16397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总结与展望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2/24</a:t>
            </a:r>
            <a:endParaRPr lang="en-US" altLang="zh-CN" b="1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引言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研究背景及意义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智能交通系统发展需求</a:t>
            </a:r>
            <a:endParaRPr lang="zh-CN" altLang="en-US"/>
          </a:p>
        </p:txBody>
      </p:sp>
      <p:sp>
        <p:nvSpPr>
          <p:cNvPr id="4" name="装饰  2"/>
          <p:cNvSpPr/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城市化与机动车增长使</a:t>
            </a:r>
            <a:r>
              <a:rPr lang="zh-CN" altLang="en-US" b="1"/>
              <a:t>传统交通管理难以满足高效安全出行需求</a:t>
            </a:r>
            <a:r>
              <a:rPr lang="zh-CN" altLang="en-US"/>
              <a:t>，智能交通系统融合多技术提供解决方案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交通标志检测的核心作用</a:t>
            </a:r>
            <a:endParaRPr lang="zh-CN" altLang="en-US"/>
          </a:p>
        </p:txBody>
      </p:sp>
      <p:sp>
        <p:nvSpPr>
          <p:cNvPr id="7" name="装饰  5"/>
          <p:cNvSpPr/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/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交通标志是道路安全关键信息载体，</a:t>
            </a:r>
            <a:r>
              <a:rPr lang="zh-CN" altLang="en-US" b="1"/>
              <a:t>准确识别</a:t>
            </a:r>
            <a:r>
              <a:rPr lang="zh-CN" altLang="en-US" b="1">
                <a:sym typeface="+mn-ea"/>
              </a:rPr>
              <a:t>交通标志</a:t>
            </a:r>
            <a:r>
              <a:rPr lang="zh-CN" altLang="en-US"/>
              <a:t>是自动驾驶环境感知核心环节，全球30%交通事故与标志误判相关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研究意义</a:t>
            </a:r>
            <a:endParaRPr lang="zh-CN" altLang="en-US"/>
          </a:p>
        </p:txBody>
      </p:sp>
      <p:sp>
        <p:nvSpPr>
          <p:cNvPr id="10" name="装饰  8"/>
          <p:cNvSpPr/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/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研发</a:t>
            </a:r>
            <a:r>
              <a:rPr lang="zh-CN" altLang="en-US" b="1"/>
              <a:t>高精度高效率检测系统</a:t>
            </a:r>
            <a:r>
              <a:rPr lang="zh-CN" altLang="en-US"/>
              <a:t>可提升驾驶安全性，推动智能交通落地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4/24</a:t>
            </a:r>
            <a:endParaRPr lang="en-US" altLang="zh-CN" b="1"/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模型背景</a:t>
            </a:r>
            <a:endParaRPr lang="zh-CN" altLang="en-US"/>
          </a:p>
        </p:txBody>
      </p:sp>
      <p:pic>
        <p:nvPicPr>
          <p:cNvPr id="21" name="图片占位符 20" descr="50da2e5c-cd1c-11f0-8b0e-4a5fc2a26b83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 l="30038" r="34981" b="52083"/>
          <a:stretch>
            <a:fillRect/>
          </a:stretch>
        </p:blipFill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4" name="文本占位符 3"/>
          <p:cNvSpPr/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传统检测方法局限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7"/>
            <p:custDataLst>
              <p:tags r:id="rId5"/>
            </p:custDataLst>
          </p:nvPr>
        </p:nvSpPr>
        <p:spPr>
          <a:xfrm>
            <a:off x="2082800" y="2159000"/>
            <a:ext cx="9165590" cy="609600"/>
          </a:xfrm>
        </p:spPr>
        <p:txBody>
          <a:bodyPr>
            <a:noAutofit/>
          </a:bodyPr>
          <a:p>
            <a:r>
              <a:rPr lang="zh-CN" altLang="en-US" sz="1800"/>
              <a:t>基于手工特征+机器学习，</a:t>
            </a:r>
            <a:r>
              <a:rPr lang="zh-CN" altLang="en-US" sz="1800" b="1"/>
              <a:t>对光照变化、遮挡鲁棒性差</a:t>
            </a:r>
            <a:r>
              <a:rPr lang="zh-CN" altLang="en-US" sz="1800"/>
              <a:t>，特征设计依赖人工经验，</a:t>
            </a:r>
            <a:r>
              <a:rPr lang="zh-CN" altLang="en-US" sz="1800" b="1"/>
              <a:t>泛化能力有限</a:t>
            </a:r>
            <a:endParaRPr lang="zh-CN" altLang="en-US" sz="1800" b="1"/>
          </a:p>
        </p:txBody>
      </p:sp>
      <p:pic>
        <p:nvPicPr>
          <p:cNvPr id="22" name="图片占位符 21" descr="default_2_img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7" name="文本占位符 6"/>
          <p:cNvSpPr/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深度学习技术进展</a:t>
            </a:r>
            <a:endParaRPr lang="zh-CN" altLang="en-US"/>
          </a:p>
        </p:txBody>
      </p:sp>
      <p:sp>
        <p:nvSpPr>
          <p:cNvPr id="8" name="文本占位符 7"/>
          <p:cNvSpPr/>
          <p:nvPr>
            <p:ph type="body" idx="16389"/>
            <p:custDataLst>
              <p:tags r:id="rId9"/>
            </p:custDataLst>
          </p:nvPr>
        </p:nvSpPr>
        <p:spPr>
          <a:xfrm>
            <a:off x="2082800" y="3835400"/>
            <a:ext cx="9166225" cy="609600"/>
          </a:xfrm>
        </p:spPr>
        <p:txBody>
          <a:bodyPr>
            <a:normAutofit lnSpcReduction="20000"/>
          </a:bodyPr>
          <a:p>
            <a:pPr algn="l">
              <a:buClrTx/>
              <a:buSzTx/>
            </a:pPr>
            <a:r>
              <a:rPr lang="zh-CN" altLang="en-US" sz="1800"/>
              <a:t>CNN通过局部特征提取成为早期主流，但</a:t>
            </a:r>
            <a:r>
              <a:rPr lang="zh-CN" altLang="en-US" sz="1800" b="1"/>
              <a:t>全局特征关联不足</a:t>
            </a:r>
            <a:r>
              <a:rPr lang="zh-CN" altLang="en-US" sz="1800"/>
              <a:t>；Transformer实现全局交互但</a:t>
            </a:r>
            <a:r>
              <a:rPr lang="zh-CN" altLang="en-US" sz="1800" b="1"/>
              <a:t>计算复杂度高</a:t>
            </a:r>
            <a:endParaRPr lang="zh-CN" altLang="en-US" sz="1800" b="1"/>
          </a:p>
        </p:txBody>
      </p:sp>
      <p:pic>
        <p:nvPicPr>
          <p:cNvPr id="23" name="图片占位符 22" descr="50da2d72-cd1c-11f0-8b0e-4a5fc2a26b83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 l="10000" r="10000"/>
          <a:stretch>
            <a:fillRect/>
          </a:stretch>
        </p:blipFill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0" name="文本占位符 9"/>
          <p:cNvSpPr/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MobileNetViT的优势</a:t>
            </a:r>
            <a:endParaRPr lang="zh-CN" altLang="en-US"/>
          </a:p>
        </p:txBody>
      </p:sp>
      <p:sp>
        <p:nvSpPr>
          <p:cNvPr id="11" name="文本占位符 10"/>
          <p:cNvSpPr/>
          <p:nvPr>
            <p:ph type="body" idx="16391"/>
            <p:custDataLst>
              <p:tags r:id="rId13"/>
            </p:custDataLst>
          </p:nvPr>
        </p:nvSpPr>
        <p:spPr>
          <a:xfrm>
            <a:off x="2082800" y="5511800"/>
            <a:ext cx="9116060" cy="609600"/>
          </a:xfrm>
        </p:spPr>
        <p:txBody>
          <a:bodyPr>
            <a:normAutofit lnSpcReduction="20000"/>
          </a:bodyPr>
          <a:p>
            <a:pPr algn="l">
              <a:buClrTx/>
              <a:buSzTx/>
            </a:pPr>
            <a:r>
              <a:rPr lang="zh-CN" altLang="en-US" sz="1800"/>
              <a:t>融合</a:t>
            </a:r>
            <a:r>
              <a:rPr lang="zh-CN" altLang="en-US" sz="1800" b="1">
                <a:solidFill>
                  <a:srgbClr val="C00000"/>
                </a:solidFill>
              </a:rPr>
              <a:t>MobileNet轻量化与ViT全局特征建模能力</a:t>
            </a:r>
            <a:r>
              <a:rPr lang="zh-CN" altLang="en-US" sz="1800"/>
              <a:t>，在</a:t>
            </a:r>
            <a:r>
              <a:rPr lang="zh-CN" altLang="en-US" sz="1800" b="1">
                <a:solidFill>
                  <a:srgbClr val="C00000"/>
                </a:solidFill>
              </a:rPr>
              <a:t>精度与效率间平衡</a:t>
            </a:r>
            <a:r>
              <a:rPr lang="zh-CN" altLang="en-US" sz="1800"/>
              <a:t>，为交通标志检测提供理想基础模型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5/24</a:t>
            </a:r>
            <a:endParaRPr lang="en-US" altLang="zh-CN" b="1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6/24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884555" y="1609725"/>
            <a:ext cx="5181600" cy="406400"/>
          </a:xfrm>
        </p:spPr>
        <p:txBody>
          <a:bodyPr/>
          <a:p>
            <a:r>
              <a:rPr lang="zh-CN" altLang="en-US"/>
              <a:t>GTSRB数据集概况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idx="16387"/>
            <p:custDataLst>
              <p:tags r:id="rId3"/>
            </p:custDataLst>
          </p:nvPr>
        </p:nvSpPr>
        <p:spPr>
          <a:xfrm>
            <a:off x="884555" y="2188210"/>
            <a:ext cx="10523220" cy="551815"/>
          </a:xfrm>
        </p:spPr>
        <p:txBody>
          <a:bodyPr/>
          <a:p>
            <a:r>
              <a:rPr lang="zh-CN" altLang="en-US"/>
              <a:t>公开</a:t>
            </a:r>
            <a:r>
              <a:rPr lang="zh-CN" altLang="en-US" b="1"/>
              <a:t>德国交通标志</a:t>
            </a:r>
            <a:r>
              <a:rPr lang="zh-CN" altLang="en-US"/>
              <a:t>识别基准数据集，含43类真实道路标志图像，样本超5万张，训练集约3.9万张，测试集约1.2万张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8"/>
            <p:custDataLst>
              <p:tags r:id="rId4"/>
            </p:custDataLst>
          </p:nvPr>
        </p:nvSpPr>
        <p:spPr>
          <a:xfrm>
            <a:off x="884555" y="3152775"/>
            <a:ext cx="5181600" cy="406400"/>
          </a:xfrm>
        </p:spPr>
        <p:txBody>
          <a:bodyPr/>
          <a:p>
            <a:r>
              <a:rPr lang="zh-CN" altLang="en-US"/>
              <a:t>数据集多样性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9"/>
            <p:custDataLst>
              <p:tags r:id="rId5"/>
            </p:custDataLst>
          </p:nvPr>
        </p:nvSpPr>
        <p:spPr>
          <a:xfrm>
            <a:off x="884555" y="3711575"/>
            <a:ext cx="10523220" cy="505460"/>
          </a:xfrm>
        </p:spPr>
        <p:txBody>
          <a:bodyPr/>
          <a:p>
            <a:r>
              <a:rPr lang="zh-CN" altLang="en-US"/>
              <a:t>包含不同光照、天气、角度、距离拍摄的图像，图像分辨率15×15到250×250不等，</a:t>
            </a:r>
            <a:r>
              <a:rPr lang="zh-CN" altLang="en-US" b="1"/>
              <a:t>拍摄场景丰富</a:t>
            </a:r>
            <a:r>
              <a:rPr lang="zh-CN" altLang="en-US"/>
              <a:t>，泛化能力强</a:t>
            </a:r>
            <a:endParaRPr lang="zh-CN" altLang="en-US"/>
          </a:p>
        </p:txBody>
      </p:sp>
      <p:sp>
        <p:nvSpPr>
          <p:cNvPr id="12" name="文本占位符 3"/>
          <p:cNvSpPr/>
          <p:nvPr>
            <p:custDataLst>
              <p:tags r:id="rId6"/>
            </p:custDataLst>
          </p:nvPr>
        </p:nvSpPr>
        <p:spPr>
          <a:xfrm>
            <a:off x="884555" y="4695825"/>
            <a:ext cx="4724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数据集规模</a:t>
            </a:r>
            <a:endParaRPr lang="zh-CN" altLang="en-US"/>
          </a:p>
        </p:txBody>
      </p:sp>
      <p:sp>
        <p:nvSpPr>
          <p:cNvPr id="13" name="文本占位符 4"/>
          <p:cNvSpPr/>
          <p:nvPr>
            <p:custDataLst>
              <p:tags r:id="rId7"/>
            </p:custDataLst>
          </p:nvPr>
        </p:nvSpPr>
        <p:spPr>
          <a:xfrm>
            <a:off x="884555" y="5221605"/>
            <a:ext cx="1052322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训练集处理后41040张，验证集4560张，测试集11877张，图像尺寸统一为64×64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7/24</a:t>
            </a:r>
            <a:endParaRPr lang="en-US" altLang="zh-CN" b="1"/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8/24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模型结构设计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1632585" y="2435860"/>
            <a:ext cx="3454400" cy="406400"/>
          </a:xfrm>
        </p:spPr>
        <p:txBody>
          <a:bodyPr>
            <a:noAutofit/>
          </a:bodyPr>
          <a:p>
            <a:r>
              <a:rPr lang="zh-CN" altLang="en-US" sz="2300"/>
              <a:t>卷积特征提取模块</a:t>
            </a:r>
            <a:endParaRPr lang="zh-CN" altLang="en-US" sz="2300"/>
          </a:p>
        </p:txBody>
      </p:sp>
      <p:sp>
        <p:nvSpPr>
          <p:cNvPr id="39" name="装饰  7"/>
          <p:cNvSpPr/>
          <p:nvPr>
            <p:ph type="body" idx="16392"/>
            <p:custDataLst>
              <p:tags r:id="rId3"/>
            </p:custDataLst>
          </p:nvPr>
        </p:nvSpPr>
        <p:spPr>
          <a:xfrm>
            <a:off x="1632585" y="3113405"/>
            <a:ext cx="3454400" cy="1348105"/>
          </a:xfrm>
        </p:spPr>
        <p:txBody>
          <a:bodyPr/>
          <a:p>
            <a:r>
              <a:rPr lang="zh-CN" altLang="en-US" sz="1400"/>
              <a:t> </a:t>
            </a:r>
            <a:endParaRPr lang="zh-CN" altLang="en-US" sz="1400"/>
          </a:p>
        </p:txBody>
      </p:sp>
      <p:sp>
        <p:nvSpPr>
          <p:cNvPr id="6" name="文本占位符 5"/>
          <p:cNvSpPr/>
          <p:nvPr>
            <p:ph type="body" idx="16387"/>
            <p:custDataLst>
              <p:tags r:id="rId4"/>
            </p:custDataLst>
          </p:nvPr>
        </p:nvSpPr>
        <p:spPr>
          <a:xfrm>
            <a:off x="1892935" y="3311525"/>
            <a:ext cx="2844800" cy="1149985"/>
          </a:xfrm>
        </p:spPr>
        <p:txBody>
          <a:bodyPr>
            <a:noAutofit/>
          </a:bodyPr>
          <a:p>
            <a:r>
              <a:rPr lang="zh-CN" altLang="en-US" sz="1700"/>
              <a:t>新增1×1卷积层完成</a:t>
            </a:r>
            <a:r>
              <a:rPr lang="zh-CN" altLang="en-US" sz="1700" b="1"/>
              <a:t>通道特征融合，补充通道关联性</a:t>
            </a:r>
            <a:r>
              <a:rPr lang="zh-CN" altLang="en-US" sz="1700"/>
              <a:t>，优化特征分布</a:t>
            </a:r>
            <a:endParaRPr lang="zh-CN" altLang="en-US" sz="17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l="3764"/>
          <a:stretch>
            <a:fillRect/>
          </a:stretch>
        </p:blipFill>
        <p:spPr>
          <a:xfrm>
            <a:off x="6777355" y="38100"/>
            <a:ext cx="3178810" cy="68002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9/24</a:t>
            </a:r>
            <a:endParaRPr lang="en-US" altLang="zh-CN" b="1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>
          <a:xfrm>
            <a:off x="609600" y="668655"/>
            <a:ext cx="10972800" cy="609600"/>
          </a:xfrm>
        </p:spPr>
        <p:txBody>
          <a:bodyPr>
            <a:noAutofit/>
          </a:bodyPr>
          <a:p>
            <a:r>
              <a:rPr lang="zh-CN" altLang="en-US"/>
              <a:t>模型结构设计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88"/>
            <p:custDataLst>
              <p:tags r:id="rId2"/>
            </p:custDataLst>
          </p:nvPr>
        </p:nvSpPr>
        <p:spPr>
          <a:xfrm>
            <a:off x="609600" y="1455420"/>
            <a:ext cx="3454400" cy="406400"/>
          </a:xfrm>
        </p:spPr>
        <p:txBody>
          <a:bodyPr>
            <a:noAutofit/>
          </a:bodyPr>
          <a:p>
            <a:r>
              <a:rPr lang="zh-CN" altLang="en-US" sz="2300"/>
              <a:t>Transformer全局特征模块</a:t>
            </a:r>
            <a:endParaRPr lang="zh-CN" altLang="en-US" sz="2300"/>
          </a:p>
        </p:txBody>
      </p:sp>
      <p:sp>
        <p:nvSpPr>
          <p:cNvPr id="40" name="装饰  0"/>
          <p:cNvSpPr/>
          <p:nvPr>
            <p:custDataLst>
              <p:tags r:id="rId3"/>
            </p:custDataLst>
          </p:nvPr>
        </p:nvSpPr>
        <p:spPr>
          <a:xfrm>
            <a:off x="609600" y="2059305"/>
            <a:ext cx="3454400" cy="1630045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 </a:t>
            </a:r>
            <a:endParaRPr lang="zh-CN" altLang="en-US" sz="1400"/>
          </a:p>
        </p:txBody>
      </p:sp>
      <p:sp>
        <p:nvSpPr>
          <p:cNvPr id="10" name="文本占位符 9"/>
          <p:cNvSpPr/>
          <p:nvPr>
            <p:custDataLst>
              <p:tags r:id="rId4"/>
            </p:custDataLst>
          </p:nvPr>
        </p:nvSpPr>
        <p:spPr>
          <a:xfrm>
            <a:off x="914400" y="2189480"/>
            <a:ext cx="2844800" cy="10902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/>
              <a:t>将卷积特征重塑为序列，添加类别令牌与位置编码，引入</a:t>
            </a:r>
            <a:r>
              <a:rPr lang="zh-CN" altLang="en-US" sz="1700" b="1"/>
              <a:t>类别感知注意力建立特征与类别直接关联，输出类别对齐特征</a:t>
            </a:r>
            <a:endParaRPr lang="zh-CN" altLang="en-US" sz="1700" b="1"/>
          </a:p>
        </p:txBody>
      </p:sp>
      <p:sp>
        <p:nvSpPr>
          <p:cNvPr id="13" name="文本占位符 12"/>
          <p:cNvSpPr/>
          <p:nvPr>
            <p:custDataLst>
              <p:tags r:id="rId5"/>
            </p:custDataLst>
          </p:nvPr>
        </p:nvSpPr>
        <p:spPr>
          <a:xfrm>
            <a:off x="609600" y="3870960"/>
            <a:ext cx="3454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00"/>
              <a:t>分类头</a:t>
            </a:r>
            <a:endParaRPr lang="zh-CN" altLang="en-US" sz="2300"/>
          </a:p>
        </p:txBody>
      </p:sp>
      <p:sp>
        <p:nvSpPr>
          <p:cNvPr id="41" name="装饰  3"/>
          <p:cNvSpPr/>
          <p:nvPr>
            <p:custDataLst>
              <p:tags r:id="rId6"/>
            </p:custDataLst>
          </p:nvPr>
        </p:nvSpPr>
        <p:spPr>
          <a:xfrm>
            <a:off x="609600" y="4431665"/>
            <a:ext cx="3454400" cy="1702435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 </a:t>
            </a:r>
            <a:endParaRPr lang="zh-CN" altLang="en-US" sz="1400"/>
          </a:p>
        </p:txBody>
      </p:sp>
      <p:sp>
        <p:nvSpPr>
          <p:cNvPr id="14" name="文本占位符 13"/>
          <p:cNvSpPr/>
          <p:nvPr>
            <p:custDataLst>
              <p:tags r:id="rId7"/>
            </p:custDataLst>
          </p:nvPr>
        </p:nvSpPr>
        <p:spPr>
          <a:xfrm>
            <a:off x="914400" y="4645660"/>
            <a:ext cx="284480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/>
              <a:t>对Transformer输出</a:t>
            </a:r>
            <a:r>
              <a:rPr lang="zh-CN" altLang="en-US" sz="1700" b="1"/>
              <a:t>特征平均池化</a:t>
            </a:r>
            <a:r>
              <a:rPr lang="zh-CN" altLang="en-US" sz="1700"/>
              <a:t>后，通过全连接层映射到类别概率分布，</a:t>
            </a:r>
            <a:r>
              <a:rPr lang="zh-CN" altLang="en-US" sz="1700" b="1"/>
              <a:t>适配类别对齐特征</a:t>
            </a:r>
            <a:r>
              <a:rPr lang="zh-CN" altLang="en-US" sz="1700"/>
              <a:t>，</a:t>
            </a:r>
            <a:r>
              <a:rPr lang="zh-CN" altLang="en-US" sz="1700"/>
              <a:t>同时提升分类效率</a:t>
            </a:r>
            <a:endParaRPr lang="zh-CN" altLang="en-US" sz="17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0380" y="0"/>
            <a:ext cx="3570605" cy="68567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9100" y="883285"/>
            <a:ext cx="3886200" cy="3168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10/24</a:t>
            </a:r>
            <a:endParaRPr lang="en-US" altLang="zh-CN" b="1"/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>
          <a:xfrm>
            <a:off x="609600" y="668655"/>
            <a:ext cx="10972800" cy="609600"/>
          </a:xfrm>
        </p:spPr>
        <p:txBody>
          <a:bodyPr>
            <a:noAutofit/>
          </a:bodyPr>
          <a:p>
            <a:r>
              <a:rPr lang="zh-CN" altLang="en-US"/>
              <a:t>模型结构设计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88"/>
            <p:custDataLst>
              <p:tags r:id="rId2"/>
            </p:custDataLst>
          </p:nvPr>
        </p:nvSpPr>
        <p:spPr>
          <a:xfrm>
            <a:off x="609600" y="2406015"/>
            <a:ext cx="3454400" cy="406400"/>
          </a:xfrm>
        </p:spPr>
        <p:txBody>
          <a:bodyPr>
            <a:noAutofit/>
          </a:bodyPr>
          <a:p>
            <a:r>
              <a:rPr lang="zh-CN" altLang="en-US" sz="2300"/>
              <a:t>类别感知</a:t>
            </a:r>
            <a:r>
              <a:rPr lang="zh-CN" altLang="en-US" sz="2300"/>
              <a:t>注意力</a:t>
            </a:r>
            <a:endParaRPr lang="zh-CN" altLang="en-US" sz="2300"/>
          </a:p>
        </p:txBody>
      </p:sp>
      <p:sp>
        <p:nvSpPr>
          <p:cNvPr id="40" name="装饰  0"/>
          <p:cNvSpPr/>
          <p:nvPr>
            <p:custDataLst>
              <p:tags r:id="rId3"/>
            </p:custDataLst>
          </p:nvPr>
        </p:nvSpPr>
        <p:spPr>
          <a:xfrm>
            <a:off x="609600" y="3009900"/>
            <a:ext cx="4051300" cy="1630045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 </a:t>
            </a:r>
            <a:endParaRPr lang="zh-CN" altLang="en-US" sz="1400"/>
          </a:p>
        </p:txBody>
      </p:sp>
      <p:sp>
        <p:nvSpPr>
          <p:cNvPr id="10" name="文本占位符 9"/>
          <p:cNvSpPr/>
          <p:nvPr>
            <p:custDataLst>
              <p:tags r:id="rId4"/>
            </p:custDataLst>
          </p:nvPr>
        </p:nvSpPr>
        <p:spPr>
          <a:xfrm>
            <a:off x="895985" y="3140075"/>
            <a:ext cx="3564890" cy="13500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/>
              <a:t>聚焦于</a:t>
            </a:r>
            <a:r>
              <a:rPr lang="en-US" altLang="zh-CN" sz="1700" b="1"/>
              <a:t>token</a:t>
            </a:r>
            <a:r>
              <a:rPr lang="zh-CN" altLang="en-US" sz="1700" b="1"/>
              <a:t>和类别</a:t>
            </a:r>
            <a:r>
              <a:rPr lang="zh-CN" altLang="en-US" sz="1700"/>
              <a:t>间的相似度，最后得到的是</a:t>
            </a:r>
            <a:r>
              <a:rPr lang="zh-CN" altLang="en-US" sz="1700" b="1"/>
              <a:t>每个类别的聚合特征</a:t>
            </a:r>
            <a:r>
              <a:rPr lang="zh-CN" altLang="en-US" sz="1700"/>
              <a:t>，而不是传统</a:t>
            </a:r>
            <a:r>
              <a:rPr lang="en-US" altLang="zh-CN" sz="1700"/>
              <a:t>vit</a:t>
            </a:r>
            <a:r>
              <a:rPr lang="zh-CN" altLang="en-US" sz="1700"/>
              <a:t>的全局特征。</a:t>
            </a:r>
            <a:r>
              <a:rPr lang="zh-CN" altLang="en-US" sz="1700" b="1"/>
              <a:t>建立特征与类别直接关联，增强</a:t>
            </a:r>
            <a:r>
              <a:rPr lang="zh-CN" altLang="en-US" sz="1700" b="1"/>
              <a:t>分类能力</a:t>
            </a:r>
            <a:endParaRPr lang="zh-CN" altLang="en-US" sz="1700" b="1"/>
          </a:p>
        </p:txBody>
      </p:sp>
      <p:pic>
        <p:nvPicPr>
          <p:cNvPr id="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20" y="373380"/>
            <a:ext cx="5509260" cy="59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11/24</a:t>
            </a:r>
            <a:endParaRPr lang="en-US" altLang="zh-CN" b="1"/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实验过程及</a:t>
            </a:r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12/24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训练步骤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609600" y="1561465"/>
            <a:ext cx="3251200" cy="406400"/>
          </a:xfrm>
        </p:spPr>
        <p:txBody>
          <a:bodyPr>
            <a:noAutofit/>
          </a:bodyPr>
          <a:p>
            <a:r>
              <a:rPr lang="zh-CN" altLang="en-US" sz="2600"/>
              <a:t>数据准备</a:t>
            </a:r>
            <a:endParaRPr lang="zh-CN" altLang="en-US" sz="2600"/>
          </a:p>
        </p:txBody>
      </p:sp>
      <p:sp>
        <p:nvSpPr>
          <p:cNvPr id="5" name="文本占位符 4"/>
          <p:cNvSpPr/>
          <p:nvPr>
            <p:ph type="body" idx="16387"/>
            <p:custDataLst>
              <p:tags r:id="rId3"/>
            </p:custDataLst>
          </p:nvPr>
        </p:nvSpPr>
        <p:spPr>
          <a:xfrm>
            <a:off x="609600" y="2120265"/>
            <a:ext cx="10481945" cy="609600"/>
          </a:xfrm>
        </p:spPr>
        <p:txBody>
          <a:bodyPr>
            <a:noAutofit/>
          </a:bodyPr>
          <a:p>
            <a:r>
              <a:rPr lang="zh-CN" altLang="en-US" sz="1800">
                <a:sym typeface="+mn-ea"/>
              </a:rPr>
              <a:t>数据清洗，将</a:t>
            </a:r>
            <a:r>
              <a:rPr lang="zh-CN" altLang="en-US" sz="1800" b="1">
                <a:sym typeface="+mn-ea"/>
              </a:rPr>
              <a:t>43类合并为5大类</a:t>
            </a:r>
            <a:r>
              <a:rPr lang="zh-CN" altLang="en-US" sz="1800">
                <a:sym typeface="+mn-ea"/>
              </a:rPr>
              <a:t>（限速、禁止、指示、警告、其他）。通过调整对比度，裁剪等方法进行数据增强，</a:t>
            </a:r>
            <a:r>
              <a:rPr lang="zh-CN" altLang="en-US" sz="1800">
                <a:sym typeface="+mn-ea"/>
              </a:rPr>
              <a:t>模拟不同场景光照变化与标志角度。</a:t>
            </a:r>
            <a:endParaRPr lang="zh-CN" altLang="en-US" sz="1800"/>
          </a:p>
        </p:txBody>
      </p:sp>
      <p:sp>
        <p:nvSpPr>
          <p:cNvPr id="6" name="文本占位符 5"/>
          <p:cNvSpPr/>
          <p:nvPr>
            <p:ph type="body" idx="16388"/>
            <p:custDataLst>
              <p:tags r:id="rId4"/>
            </p:custDataLst>
          </p:nvPr>
        </p:nvSpPr>
        <p:spPr>
          <a:xfrm>
            <a:off x="609600" y="3295015"/>
            <a:ext cx="3251200" cy="406400"/>
          </a:xfrm>
        </p:spPr>
        <p:txBody>
          <a:bodyPr>
            <a:noAutofit/>
          </a:bodyPr>
          <a:p>
            <a:r>
              <a:rPr lang="zh-CN" altLang="en-US" sz="2600"/>
              <a:t>模型初始化</a:t>
            </a:r>
            <a:endParaRPr lang="zh-CN" altLang="en-US" sz="2600"/>
          </a:p>
        </p:txBody>
      </p:sp>
      <p:sp>
        <p:nvSpPr>
          <p:cNvPr id="7" name="文本占位符 6"/>
          <p:cNvSpPr/>
          <p:nvPr>
            <p:ph type="body" idx="16389"/>
            <p:custDataLst>
              <p:tags r:id="rId5"/>
            </p:custDataLst>
          </p:nvPr>
        </p:nvSpPr>
        <p:spPr>
          <a:xfrm>
            <a:off x="609600" y="3853815"/>
            <a:ext cx="10482580" cy="609600"/>
          </a:xfrm>
        </p:spPr>
        <p:txBody>
          <a:bodyPr>
            <a:noAutofit/>
          </a:bodyPr>
          <a:p>
            <a:r>
              <a:rPr lang="zh-CN" altLang="en-US" sz="1800"/>
              <a:t>加载</a:t>
            </a:r>
            <a:r>
              <a:rPr lang="zh-CN" altLang="en-US" sz="1800" b="1"/>
              <a:t>MobileNetViT、VGG16、ResNet18模型</a:t>
            </a:r>
            <a:r>
              <a:rPr lang="zh-CN" altLang="en-US" sz="1800"/>
              <a:t>，禁用预训练权重，确保从零开始训练。</a:t>
            </a:r>
            <a:endParaRPr lang="en-US" altLang="zh-CN" sz="1800"/>
          </a:p>
        </p:txBody>
      </p:sp>
      <p:sp>
        <p:nvSpPr>
          <p:cNvPr id="8" name="文本占位符 7"/>
          <p:cNvSpPr/>
          <p:nvPr>
            <p:ph type="body" idx="16390"/>
            <p:custDataLst>
              <p:tags r:id="rId6"/>
            </p:custDataLst>
          </p:nvPr>
        </p:nvSpPr>
        <p:spPr>
          <a:xfrm>
            <a:off x="609600" y="4729480"/>
            <a:ext cx="3251200" cy="406400"/>
          </a:xfrm>
        </p:spPr>
        <p:txBody>
          <a:bodyPr>
            <a:noAutofit/>
          </a:bodyPr>
          <a:p>
            <a:r>
              <a:rPr lang="zh-CN" altLang="en-US" sz="2600"/>
              <a:t>训练配置</a:t>
            </a:r>
            <a:endParaRPr lang="zh-CN" altLang="en-US" sz="2600"/>
          </a:p>
        </p:txBody>
      </p:sp>
      <p:sp>
        <p:nvSpPr>
          <p:cNvPr id="9" name="文本占位符 8"/>
          <p:cNvSpPr/>
          <p:nvPr>
            <p:ph type="body" idx="16391"/>
            <p:custDataLst>
              <p:tags r:id="rId7"/>
            </p:custDataLst>
          </p:nvPr>
        </p:nvSpPr>
        <p:spPr>
          <a:xfrm>
            <a:off x="609600" y="5288280"/>
            <a:ext cx="10483215" cy="609600"/>
          </a:xfrm>
        </p:spPr>
        <p:txBody>
          <a:bodyPr>
            <a:noAutofit/>
          </a:bodyPr>
          <a:p>
            <a:r>
              <a:rPr lang="zh-CN" altLang="en-US" sz="1800"/>
              <a:t>按</a:t>
            </a:r>
            <a:r>
              <a:rPr lang="zh-CN" altLang="en-US" sz="1800" b="1"/>
              <a:t>超参数实验方案</a:t>
            </a:r>
            <a:r>
              <a:rPr lang="zh-CN" altLang="en-US" sz="1800"/>
              <a:t>设置训练参数，采用早停策略，保存验证集准确率最高的模型权重。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13/24</a:t>
            </a:r>
            <a:endParaRPr lang="en-US" altLang="zh-CN" b="1"/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装饰  2"/>
          <p:cNvSpPr/>
          <p:nvPr>
            <p:ph type="body" idx="16391"/>
            <p:custDataLst>
              <p:tags r:id="rId1"/>
            </p:custDataLst>
          </p:nvPr>
        </p:nvSpPr>
        <p:spPr>
          <a:xfrm>
            <a:off x="6893560" y="1978025"/>
            <a:ext cx="50800" cy="142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7045960" y="1978025"/>
            <a:ext cx="5029200" cy="406400"/>
          </a:xfrm>
        </p:spPr>
        <p:txBody>
          <a:bodyPr/>
          <a:p>
            <a:r>
              <a:rPr lang="zh-CN" altLang="en-US"/>
              <a:t>优化器选择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7"/>
            <p:custDataLst>
              <p:tags r:id="rId3"/>
            </p:custDataLst>
          </p:nvPr>
        </p:nvSpPr>
        <p:spPr>
          <a:xfrm>
            <a:off x="7045960" y="2486025"/>
            <a:ext cx="5029200" cy="914400"/>
          </a:xfrm>
        </p:spPr>
        <p:txBody>
          <a:bodyPr/>
          <a:p>
            <a:r>
              <a:rPr lang="zh-CN" altLang="en-US"/>
              <a:t>采用AdamW优化器，继承Adam自适应学习率特性，独立权重衰减提升泛化能力，适配50轮训练节奏</a:t>
            </a:r>
            <a:endParaRPr lang="zh-CN" altLang="en-US"/>
          </a:p>
        </p:txBody>
      </p:sp>
      <p:sp>
        <p:nvSpPr>
          <p:cNvPr id="7" name="装饰  5"/>
          <p:cNvSpPr/>
          <p:nvPr>
            <p:ph type="body" idx="16392"/>
            <p:custDataLst>
              <p:tags r:id="rId4"/>
            </p:custDataLst>
          </p:nvPr>
        </p:nvSpPr>
        <p:spPr>
          <a:xfrm>
            <a:off x="6893560" y="4072890"/>
            <a:ext cx="50800" cy="142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/>
          <p:nvPr>
            <p:ph type="body" idx="16388"/>
            <p:custDataLst>
              <p:tags r:id="rId5"/>
            </p:custDataLst>
          </p:nvPr>
        </p:nvSpPr>
        <p:spPr>
          <a:xfrm>
            <a:off x="7045960" y="4072890"/>
            <a:ext cx="5029200" cy="406400"/>
          </a:xfrm>
        </p:spPr>
        <p:txBody>
          <a:bodyPr/>
          <a:p>
            <a:r>
              <a:rPr lang="zh-CN" altLang="en-US"/>
              <a:t>超参数实验方案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89"/>
            <p:custDataLst>
              <p:tags r:id="rId6"/>
            </p:custDataLst>
          </p:nvPr>
        </p:nvSpPr>
        <p:spPr>
          <a:xfrm>
            <a:off x="7045960" y="4580890"/>
            <a:ext cx="5029200" cy="914400"/>
          </a:xfrm>
        </p:spPr>
        <p:txBody>
          <a:bodyPr/>
          <a:p>
            <a:r>
              <a:rPr lang="zh-CN" altLang="en-US">
                <a:sym typeface="+mn-ea"/>
              </a:rPr>
              <a:t>分别对学习率、批次大小、激活函数、Transformer层数、优化器进行对比实验，验证各参数影响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" y="1663700"/>
            <a:ext cx="6597015" cy="4107815"/>
          </a:xfrm>
          <a:prstGeom prst="rect">
            <a:avLst/>
          </a:prstGeom>
        </p:spPr>
      </p:pic>
      <p:sp>
        <p:nvSpPr>
          <p:cNvPr id="11" name="标题 10"/>
          <p:cNvSpPr/>
          <p:nvPr>
            <p:ph type="ctrTitle" idx="16385"/>
            <p:custDataLst>
              <p:tags r:id="rId8"/>
            </p:custDataLst>
          </p:nvPr>
        </p:nvSpPr>
        <p:spPr>
          <a:xfrm>
            <a:off x="609600" y="616585"/>
            <a:ext cx="10972800" cy="594360"/>
          </a:xfrm>
        </p:spPr>
        <p:txBody>
          <a:bodyPr>
            <a:noAutofit/>
          </a:bodyPr>
          <a:p>
            <a:r>
              <a:rPr lang="zh-CN" altLang="en-US"/>
              <a:t>参数</a:t>
            </a:r>
            <a:r>
              <a:rPr lang="zh-CN" altLang="en-US"/>
              <a:t>设置实验方案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14/24</a:t>
            </a:r>
            <a:endParaRPr lang="en-US" altLang="zh-CN" b="1"/>
          </a:p>
        </p:txBody>
      </p:sp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/>
          <p:nvPr>
            <p:ph type="body" idx="16386"/>
            <p:custDataLst>
              <p:tags r:id="rId1"/>
            </p:custDataLst>
          </p:nvPr>
        </p:nvSpPr>
        <p:spPr>
          <a:xfrm>
            <a:off x="515620" y="1585595"/>
            <a:ext cx="4194175" cy="406400"/>
          </a:xfrm>
        </p:spPr>
        <p:txBody>
          <a:bodyPr/>
          <a:p>
            <a:pPr algn="l"/>
            <a:r>
              <a:rPr lang="en-US" altLang="zh-CN"/>
              <a:t>ReLU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8"/>
            <p:custDataLst>
              <p:tags r:id="rId2"/>
            </p:custDataLst>
          </p:nvPr>
        </p:nvSpPr>
        <p:spPr>
          <a:xfrm>
            <a:off x="515620" y="3897630"/>
            <a:ext cx="4372610" cy="406400"/>
          </a:xfrm>
        </p:spPr>
        <p:txBody>
          <a:bodyPr/>
          <a:p>
            <a:pPr algn="l"/>
            <a:r>
              <a:rPr lang="en-US" altLang="zh-CN"/>
              <a:t>GeLU</a:t>
            </a:r>
            <a:r>
              <a:rPr lang="zh-CN" altLang="en-US"/>
              <a:t>高斯误差线性单元</a:t>
            </a:r>
            <a:endParaRPr lang="zh-CN" altLang="en-US"/>
          </a:p>
        </p:txBody>
      </p:sp>
      <p:sp>
        <p:nvSpPr>
          <p:cNvPr id="13" name="标题 12"/>
          <p:cNvSpPr/>
          <p:nvPr>
            <p:ph type="ctrTitle" idx="16385"/>
            <p:custDataLst>
              <p:tags r:id="rId3"/>
            </p:custDataLst>
          </p:nvPr>
        </p:nvSpPr>
        <p:spPr>
          <a:xfrm>
            <a:off x="609600" y="616585"/>
            <a:ext cx="10972800" cy="594360"/>
          </a:xfrm>
        </p:spPr>
        <p:txBody>
          <a:bodyPr>
            <a:noAutofit/>
          </a:bodyPr>
          <a:p>
            <a:r>
              <a:rPr lang="zh-CN" altLang="en-US"/>
              <a:t>参数设置实验方案：</a:t>
            </a:r>
            <a:r>
              <a:rPr lang="zh-CN" altLang="en-US"/>
              <a:t>激活函数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14985" y="2085975"/>
            <a:ext cx="76149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简单阈值过滤，输入大于</a:t>
            </a:r>
            <a:r>
              <a:rPr lang="en-US" altLang="zh-CN"/>
              <a:t> 0 </a:t>
            </a:r>
            <a:r>
              <a:rPr lang="zh-CN" altLang="en-US"/>
              <a:t>时直接输出，小于等于</a:t>
            </a:r>
            <a:r>
              <a:rPr lang="en-US" altLang="zh-CN"/>
              <a:t> 0 </a:t>
            </a:r>
            <a:r>
              <a:rPr lang="zh-CN" altLang="en-US"/>
              <a:t>时输出</a:t>
            </a:r>
            <a:r>
              <a:rPr lang="en-US" altLang="zh-CN"/>
              <a:t> 0 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ReLU(</a:t>
            </a:r>
            <a:r>
              <a:rPr lang="en-US" altLang="zh-CN"/>
              <a:t>x) = max(0,x)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存在梯度消失问题，</a:t>
            </a:r>
            <a:r>
              <a:rPr lang="zh-CN" altLang="en-US">
                <a:sym typeface="+mn-ea"/>
              </a:rPr>
              <a:t>但计算速度快、不易过拟合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5620" y="4412615"/>
            <a:ext cx="908177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将输入</a:t>
            </a:r>
            <a:r>
              <a:rPr lang="en-US" altLang="zh-CN"/>
              <a:t>x</a:t>
            </a:r>
            <a:r>
              <a:rPr lang="zh-CN" altLang="en-US"/>
              <a:t>视为正态分布样本，输出是</a:t>
            </a:r>
            <a:r>
              <a:rPr lang="en-US" altLang="zh-CN"/>
              <a:t>x</a:t>
            </a:r>
            <a:r>
              <a:rPr lang="zh-CN" altLang="en-US"/>
              <a:t>与</a:t>
            </a:r>
            <a:r>
              <a:rPr lang="en-US" altLang="zh-CN"/>
              <a:t>“x</a:t>
            </a:r>
            <a:r>
              <a:rPr lang="zh-CN" altLang="en-US"/>
              <a:t>大于</a:t>
            </a:r>
            <a:r>
              <a:rPr lang="en-US" altLang="zh-CN"/>
              <a:t>0</a:t>
            </a:r>
            <a:r>
              <a:rPr lang="zh-CN" altLang="en-US"/>
              <a:t>的概率</a:t>
            </a:r>
            <a:r>
              <a:rPr lang="en-US" altLang="zh-CN"/>
              <a:t>”</a:t>
            </a:r>
            <a:r>
              <a:rPr lang="zh-CN" altLang="en-US"/>
              <a:t>的乘积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GELU(x) = x*Φ(x)      </a:t>
            </a:r>
            <a:r>
              <a:rPr lang="en-US" altLang="zh-CN">
                <a:sym typeface="+mn-ea"/>
              </a:rPr>
              <a:t>Φ(x):</a:t>
            </a:r>
            <a:r>
              <a:rPr lang="zh-CN" altLang="en-US"/>
              <a:t>标准正态分布的累积分布函数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梯度平滑衰减，无梯度消失，</a:t>
            </a:r>
            <a:r>
              <a:rPr lang="zh-CN" altLang="en-US"/>
              <a:t>在深层网络中梯度传播更稳定，能捕捉细粒度特征差异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15/24</a:t>
            </a:r>
            <a:endParaRPr lang="en-US" altLang="zh-CN" b="1"/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文本框 19"/>
          <p:cNvSpPr txBox="1"/>
          <p:nvPr/>
        </p:nvSpPr>
        <p:spPr>
          <a:xfrm>
            <a:off x="455930" y="1374775"/>
            <a:ext cx="112083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>
                <a:sym typeface="+mn-ea"/>
              </a:rPr>
              <a:t>将MobileNetViT不同参数设置对比，验证混合架构优势，对比模型适配5分类输出</a:t>
            </a:r>
            <a:endParaRPr lang="zh-CN" altLang="en-US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>
                <a:sym typeface="+mn-ea"/>
              </a:rPr>
              <a:t>评价指标：包括准确率、精确率、F1分数、推理速度（FPS），全面衡量模型分类性能与轻量化程度</a:t>
            </a:r>
            <a:endParaRPr lang="zh-CN" altLang="en-US"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25" y="2787650"/>
            <a:ext cx="5493385" cy="342074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55930" y="5867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+mj-lt"/>
                <a:ea typeface="+mj-ea"/>
                <a:cs typeface="+mj-cs"/>
                <a:sym typeface="+mn-ea"/>
              </a:rPr>
              <a:t>模型对比结果</a:t>
            </a:r>
            <a:endParaRPr lang="zh-CN" altLang="en-US" sz="360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930" r="5579"/>
          <a:stretch>
            <a:fillRect/>
          </a:stretch>
        </p:blipFill>
        <p:spPr>
          <a:xfrm>
            <a:off x="6062980" y="2944495"/>
            <a:ext cx="5845175" cy="24790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16/24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文本框 19"/>
          <p:cNvSpPr txBox="1"/>
          <p:nvPr/>
        </p:nvSpPr>
        <p:spPr>
          <a:xfrm>
            <a:off x="776605" y="1400175"/>
            <a:ext cx="10540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将MobileNetViT与VGG16、ResNet18对比，验证混合架构优势，对比模型适配5分类输出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1913890"/>
            <a:ext cx="5752465" cy="3383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5930" y="5867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+mj-lt"/>
                <a:ea typeface="+mj-ea"/>
                <a:cs typeface="+mj-cs"/>
                <a:sym typeface="+mn-ea"/>
              </a:rPr>
              <a:t>模型对比结果</a:t>
            </a:r>
            <a:endParaRPr lang="zh-CN" altLang="en-US" sz="360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330" y="1913890"/>
            <a:ext cx="6075680" cy="4193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17/24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1231900"/>
            <a:ext cx="7217410" cy="28930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5930" y="5867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+mj-lt"/>
                <a:ea typeface="+mj-ea"/>
                <a:cs typeface="+mj-cs"/>
                <a:sym typeface="+mn-ea"/>
              </a:rPr>
              <a:t>模型对比结果</a:t>
            </a:r>
            <a:endParaRPr lang="zh-CN" altLang="en-US" sz="360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930" y="4270375"/>
            <a:ext cx="1132459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精度表现优异：实验模型</a:t>
            </a:r>
            <a:r>
              <a:rPr lang="zh-CN" altLang="en-US"/>
              <a:t>的准确率、</a:t>
            </a:r>
            <a:r>
              <a:rPr lang="en-US" altLang="zh-CN"/>
              <a:t>F1 </a:t>
            </a:r>
            <a:r>
              <a:rPr lang="zh-CN" altLang="en-US"/>
              <a:t>分数仅略低于</a:t>
            </a:r>
            <a:r>
              <a:rPr lang="en-US" altLang="zh-CN"/>
              <a:t> VGG16</a:t>
            </a:r>
            <a:r>
              <a:rPr lang="zh-CN" altLang="en-US"/>
              <a:t>，远高于基础版</a:t>
            </a:r>
            <a:r>
              <a:rPr lang="en-US" altLang="zh-CN"/>
              <a:t> MobileNetViT</a:t>
            </a:r>
            <a:r>
              <a:rPr lang="zh-CN" altLang="en-US"/>
              <a:t>，能满足高分类效果的需求；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参数规模极小：参数量远低于传统</a:t>
            </a:r>
            <a:r>
              <a:rPr lang="en-US" altLang="zh-CN"/>
              <a:t>CNN</a:t>
            </a:r>
            <a:r>
              <a:rPr lang="zh-CN" altLang="en-US"/>
              <a:t>模型，大幅降低模型部署的内存</a:t>
            </a:r>
            <a:r>
              <a:rPr lang="en-US" altLang="zh-CN"/>
              <a:t> / </a:t>
            </a:r>
            <a:r>
              <a:rPr lang="zh-CN" altLang="en-US"/>
              <a:t>存储成本；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轻量化优势突出：在精度接近高性能模型的前提下，保持了</a:t>
            </a:r>
            <a:r>
              <a:rPr lang="en-US" altLang="zh-CN"/>
              <a:t>MobileNet</a:t>
            </a:r>
            <a:r>
              <a:rPr lang="zh-CN" altLang="en-US"/>
              <a:t>系列</a:t>
            </a:r>
            <a:r>
              <a:rPr lang="en-US" altLang="zh-CN"/>
              <a:t> “</a:t>
            </a:r>
            <a:r>
              <a:rPr lang="zh-CN" altLang="en-US"/>
              <a:t>轻量高效</a:t>
            </a:r>
            <a:r>
              <a:rPr lang="en-US" altLang="zh-CN"/>
              <a:t>” </a:t>
            </a:r>
            <a:r>
              <a:rPr lang="zh-CN" altLang="en-US"/>
              <a:t>的特点，更适配移动端、嵌入式等资源受限场景。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18/24</a:t>
            </a:r>
            <a:endParaRPr lang="en-US" altLang="zh-CN" b="1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19/24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>
          <a:xfrm>
            <a:off x="581025" y="533400"/>
            <a:ext cx="6324600" cy="609600"/>
          </a:xfrm>
        </p:spPr>
        <p:txBody>
          <a:bodyPr/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4" name="装饰  2"/>
          <p:cNvSpPr/>
          <p:nvPr>
            <p:ph type="body" idx="16391"/>
            <p:custDataLst>
              <p:tags r:id="rId2"/>
            </p:custDataLst>
          </p:nvPr>
        </p:nvSpPr>
        <p:spPr>
          <a:xfrm flipH="1">
            <a:off x="8814435" y="1085850"/>
            <a:ext cx="81280" cy="367665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idx="16386"/>
            <p:custDataLst>
              <p:tags r:id="rId3"/>
            </p:custDataLst>
          </p:nvPr>
        </p:nvSpPr>
        <p:spPr>
          <a:xfrm>
            <a:off x="8985885" y="1085850"/>
            <a:ext cx="2931160" cy="406400"/>
          </a:xfrm>
        </p:spPr>
        <p:txBody>
          <a:bodyPr/>
          <a:p>
            <a:r>
              <a:rPr lang="zh-CN" altLang="en-US"/>
              <a:t>训练曲线分析</a:t>
            </a:r>
            <a:endParaRPr lang="zh-CN" altLang="en-US"/>
          </a:p>
        </p:txBody>
      </p:sp>
      <p:sp>
        <p:nvSpPr>
          <p:cNvPr id="6" name="文本占位符 5"/>
          <p:cNvSpPr/>
          <p:nvPr>
            <p:ph type="body" idx="16387"/>
            <p:custDataLst>
              <p:tags r:id="rId4"/>
            </p:custDataLst>
          </p:nvPr>
        </p:nvSpPr>
        <p:spPr>
          <a:xfrm>
            <a:off x="8987155" y="1711325"/>
            <a:ext cx="2931160" cy="3181985"/>
          </a:xfrm>
        </p:spPr>
        <p:txBody>
          <a:bodyPr>
            <a:normAutofit fontScale="25000"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400"/>
              <a:t>    mobilevit-3layer </a:t>
            </a:r>
            <a:r>
              <a:rPr lang="zh-CN" altLang="en-US" sz="6400"/>
              <a:t>曲线重叠，训练过程中无明显过拟合；</a:t>
            </a:r>
            <a:r>
              <a:rPr lang="en-US" altLang="zh-CN" sz="6400"/>
              <a:t>VGG16 </a:t>
            </a:r>
            <a:r>
              <a:rPr lang="zh-CN" altLang="en-US" sz="6400"/>
              <a:t>的</a:t>
            </a:r>
            <a:r>
              <a:rPr lang="en-US" altLang="zh-CN" sz="6400"/>
              <a:t> Train</a:t>
            </a:r>
            <a:r>
              <a:rPr lang="zh-CN" altLang="en-US" sz="6400"/>
              <a:t>略高于</a:t>
            </a:r>
            <a:r>
              <a:rPr lang="en-US" altLang="zh-CN" sz="6400"/>
              <a:t>Val</a:t>
            </a:r>
            <a:r>
              <a:rPr lang="zh-CN" altLang="en-US" sz="6400"/>
              <a:t>，存在轻微过拟合风险，训练过程</a:t>
            </a:r>
            <a:r>
              <a:rPr lang="zh-CN" altLang="en-US" sz="6400"/>
              <a:t>不稳定。</a:t>
            </a:r>
            <a:endParaRPr lang="zh-CN" altLang="en-US" sz="640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400"/>
              <a:t> </a:t>
            </a:r>
            <a:r>
              <a:rPr lang="en-US" altLang="zh-CN" sz="6400"/>
              <a:t>   mobilevit-3layer</a:t>
            </a:r>
            <a:r>
              <a:rPr lang="zh-CN" altLang="en-US" sz="6400"/>
              <a:t>模型对数据的适配性更好；</a:t>
            </a:r>
            <a:r>
              <a:rPr lang="en-US" altLang="zh-CN" sz="6400"/>
              <a:t>VGG16</a:t>
            </a:r>
            <a:r>
              <a:rPr lang="zh-CN" altLang="en-US" sz="6400"/>
              <a:t>的泛化表现不如</a:t>
            </a:r>
            <a:r>
              <a:rPr lang="en-US" altLang="zh-CN" sz="6400"/>
              <a:t>mobilevit-3layer</a:t>
            </a:r>
            <a:r>
              <a:rPr lang="zh-CN" altLang="en-US" sz="6400"/>
              <a:t>稳定。</a:t>
            </a:r>
            <a:endParaRPr lang="zh-CN" altLang="en-US" sz="6400"/>
          </a:p>
        </p:txBody>
      </p:sp>
      <p:pic>
        <p:nvPicPr>
          <p:cNvPr id="16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" y="1085850"/>
            <a:ext cx="8192770" cy="2731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050" y="3836035"/>
            <a:ext cx="8192135" cy="27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20/24</a:t>
            </a:r>
            <a:endParaRPr lang="en-US" altLang="zh-CN" b="1"/>
          </a:p>
        </p:txBody>
      </p:sp>
    </p:spTree>
    <p:custDataLst>
      <p:tags r:id="rId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>
          <a:xfrm>
            <a:off x="400050" y="464185"/>
            <a:ext cx="6324600" cy="609600"/>
          </a:xfrm>
        </p:spPr>
        <p:txBody>
          <a:bodyPr/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8" name="文本占位符 7"/>
          <p:cNvSpPr/>
          <p:nvPr>
            <p:ph type="body" idx="16388"/>
            <p:custDataLst>
              <p:tags r:id="rId2"/>
            </p:custDataLst>
          </p:nvPr>
        </p:nvSpPr>
        <p:spPr>
          <a:xfrm>
            <a:off x="400050" y="1341120"/>
            <a:ext cx="6172200" cy="406400"/>
          </a:xfrm>
        </p:spPr>
        <p:txBody>
          <a:bodyPr/>
          <a:p>
            <a:r>
              <a:rPr lang="zh-CN" altLang="en-US"/>
              <a:t>混淆矩阵分析</a:t>
            </a:r>
            <a:endParaRPr lang="zh-CN" altLang="en-US"/>
          </a:p>
        </p:txBody>
      </p:sp>
      <p:sp>
        <p:nvSpPr>
          <p:cNvPr id="9" name="文本占位符 8"/>
          <p:cNvSpPr/>
          <p:nvPr>
            <p:ph type="body" idx="16389"/>
            <p:custDataLst>
              <p:tags r:id="rId3"/>
            </p:custDataLst>
          </p:nvPr>
        </p:nvSpPr>
        <p:spPr>
          <a:xfrm>
            <a:off x="400050" y="2179320"/>
            <a:ext cx="3116580" cy="1219200"/>
          </a:xfrm>
        </p:spPr>
        <p:txBody>
          <a:bodyPr/>
          <a:p>
            <a:r>
              <a:rPr lang="zh-CN" altLang="en-US"/>
              <a:t>MobileNetViT对角线占比高，误判多为语义相似类别混淆；VGG16对细节丰富类别识别准，但易误判小尺寸标志</a:t>
            </a:r>
            <a:endParaRPr lang="zh-CN" altLang="en-US"/>
          </a:p>
        </p:txBody>
      </p:sp>
      <p:pic>
        <p:nvPicPr>
          <p:cNvPr id="21" name="图片 7"/>
          <p:cNvPicPr>
            <a:picLocks noChangeAspect="1"/>
          </p:cNvPicPr>
          <p:nvPr/>
        </p:nvPicPr>
        <p:blipFill>
          <a:blip r:embed="rId4"/>
          <a:srcRect r="5618"/>
          <a:stretch>
            <a:fillRect/>
          </a:stretch>
        </p:blipFill>
        <p:spPr>
          <a:xfrm>
            <a:off x="4034155" y="101600"/>
            <a:ext cx="3890010" cy="329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8"/>
          <p:cNvPicPr>
            <a:picLocks noChangeAspect="1"/>
          </p:cNvPicPr>
          <p:nvPr/>
        </p:nvPicPr>
        <p:blipFill>
          <a:blip r:embed="rId5"/>
          <a:srcRect r="5943"/>
          <a:stretch>
            <a:fillRect/>
          </a:stretch>
        </p:blipFill>
        <p:spPr>
          <a:xfrm>
            <a:off x="7924165" y="109855"/>
            <a:ext cx="3866515" cy="328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5"/>
          <p:cNvPicPr>
            <a:picLocks noChangeAspect="1"/>
          </p:cNvPicPr>
          <p:nvPr/>
        </p:nvPicPr>
        <p:blipFill>
          <a:blip r:embed="rId6"/>
          <a:srcRect r="4991"/>
          <a:stretch>
            <a:fillRect/>
          </a:stretch>
        </p:blipFill>
        <p:spPr>
          <a:xfrm>
            <a:off x="4034155" y="3398520"/>
            <a:ext cx="3872865" cy="326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6"/>
          <p:cNvPicPr>
            <a:picLocks noChangeAspect="1"/>
          </p:cNvPicPr>
          <p:nvPr/>
        </p:nvPicPr>
        <p:blipFill>
          <a:blip r:embed="rId7"/>
          <a:srcRect r="5341"/>
          <a:stretch>
            <a:fillRect/>
          </a:stretch>
        </p:blipFill>
        <p:spPr>
          <a:xfrm>
            <a:off x="7907020" y="3371215"/>
            <a:ext cx="3891280" cy="328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装饰  2"/>
          <p:cNvSpPr/>
          <p:nvPr>
            <p:custDataLst>
              <p:tags r:id="rId8"/>
            </p:custDataLst>
          </p:nvPr>
        </p:nvSpPr>
        <p:spPr>
          <a:xfrm flipH="1">
            <a:off x="187325" y="1249045"/>
            <a:ext cx="76200" cy="2234565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21/24</a:t>
            </a:r>
            <a:endParaRPr lang="en-US" altLang="zh-CN" b="1"/>
          </a:p>
        </p:txBody>
      </p:sp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总结与</a:t>
            </a:r>
            <a:r>
              <a:rPr lang="zh-CN" altLang="en-US"/>
              <a:t>展望</a:t>
            </a:r>
            <a:endParaRPr lang="zh-CN" altLang="en-US"/>
          </a:p>
        </p:txBody>
      </p:sp>
      <p:sp>
        <p:nvSpPr>
          <p:cNvPr id="3" name="节编号 3"/>
          <p:cNvSpPr/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22/24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实验总结和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未来展望</a:t>
            </a:r>
            <a:endParaRPr lang="zh-CN" altLang="en-US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文本占位符 5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6600903" y="4125195"/>
            <a:ext cx="5181600" cy="406400"/>
          </a:xfrm>
        </p:spPr>
        <p:txBody>
          <a:bodyPr>
            <a:noAutofit/>
          </a:bodyPr>
          <a:p>
            <a:r>
              <a:rPr lang="zh-CN" altLang="en-US" sz="2800" b="1">
                <a:solidFill>
                  <a:schemeClr val="bg2">
                    <a:lumMod val="50000"/>
                  </a:schemeClr>
                </a:solidFill>
              </a:rPr>
              <a:t>模型优化方向</a:t>
            </a:r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占位符 6"/>
          <p:cNvSpPr/>
          <p:nvPr>
            <p:ph type="body" idx="16387"/>
            <p:custDataLst>
              <p:tags r:id="rId3"/>
            </p:custDataLst>
          </p:nvPr>
        </p:nvSpPr>
        <p:spPr>
          <a:xfrm>
            <a:off x="6600903" y="4683995"/>
            <a:ext cx="5181600" cy="609600"/>
          </a:xfrm>
        </p:spPr>
        <p:txBody>
          <a:bodyPr>
            <a:noAutofit/>
          </a:bodyPr>
          <a:p>
            <a:r>
              <a:rPr lang="zh-CN" altLang="en-US" sz="2000"/>
              <a:t>引入多尺度特征融合，替换轻量化分类头，尝试更先进激活函数</a:t>
            </a:r>
            <a:endParaRPr lang="zh-CN" altLang="en-US" sz="2000"/>
          </a:p>
        </p:txBody>
      </p:sp>
      <p:sp>
        <p:nvSpPr>
          <p:cNvPr id="10" name="文本占位符 9"/>
          <p:cNvSpPr/>
          <p:nvPr>
            <p:ph type="body" idx="16388"/>
            <p:custDataLst>
              <p:tags r:id="rId4"/>
            </p:custDataLst>
          </p:nvPr>
        </p:nvSpPr>
        <p:spPr>
          <a:xfrm>
            <a:off x="6600903" y="2066086"/>
            <a:ext cx="5181600" cy="406400"/>
          </a:xfrm>
        </p:spPr>
        <p:txBody>
          <a:bodyPr>
            <a:noAutofit/>
          </a:bodyPr>
          <a:p>
            <a:r>
              <a:rPr lang="zh-CN" altLang="en-US" sz="2800" b="1">
                <a:solidFill>
                  <a:schemeClr val="bg2">
                    <a:lumMod val="50000"/>
                  </a:schemeClr>
                </a:solidFill>
              </a:rPr>
              <a:t>任务扩展方向</a:t>
            </a:r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文本占位符 10"/>
          <p:cNvSpPr/>
          <p:nvPr>
            <p:ph type="body" idx="16389"/>
            <p:custDataLst>
              <p:tags r:id="rId5"/>
            </p:custDataLst>
          </p:nvPr>
        </p:nvSpPr>
        <p:spPr>
          <a:xfrm>
            <a:off x="6600903" y="2624886"/>
            <a:ext cx="5181600" cy="609600"/>
          </a:xfrm>
        </p:spPr>
        <p:txBody>
          <a:bodyPr>
            <a:noAutofit/>
          </a:bodyPr>
          <a:p>
            <a:r>
              <a:rPr lang="zh-CN" altLang="en-US" sz="2000"/>
              <a:t>扩展到检测+分类一体化，跨数据集泛化测试，部署至嵌入式设备</a:t>
            </a:r>
            <a:endParaRPr lang="zh-CN" altLang="en-US" sz="2000"/>
          </a:p>
        </p:txBody>
      </p:sp>
      <p:sp>
        <p:nvSpPr>
          <p:cNvPr id="20" name="文本占位符 4"/>
          <p:cNvSpPr/>
          <p:nvPr>
            <p:custDataLst>
              <p:tags r:id="rId6"/>
            </p:custDataLst>
          </p:nvPr>
        </p:nvSpPr>
        <p:spPr>
          <a:xfrm>
            <a:off x="409319" y="2066157"/>
            <a:ext cx="518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核心收获</a:t>
            </a:r>
            <a:endParaRPr lang="zh-CN" altLang="en-US" sz="2800" b="1"/>
          </a:p>
        </p:txBody>
      </p:sp>
      <p:sp>
        <p:nvSpPr>
          <p:cNvPr id="21" name="文本占位符 5"/>
          <p:cNvSpPr/>
          <p:nvPr>
            <p:custDataLst>
              <p:tags r:id="rId7"/>
            </p:custDataLst>
          </p:nvPr>
        </p:nvSpPr>
        <p:spPr>
          <a:xfrm>
            <a:off x="409319" y="2624957"/>
            <a:ext cx="5181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完成GTSRB数据集全流程处理，设计实现改进MobileNetViT模型，验证超参数影响，证明模型轻量化与性能优势</a:t>
            </a:r>
            <a:endParaRPr lang="zh-CN" altLang="en-US" sz="1800"/>
          </a:p>
        </p:txBody>
      </p:sp>
      <p:sp>
        <p:nvSpPr>
          <p:cNvPr id="22" name="文本占位符 7"/>
          <p:cNvSpPr/>
          <p:nvPr>
            <p:custDataLst>
              <p:tags r:id="rId8"/>
            </p:custDataLst>
          </p:nvPr>
        </p:nvSpPr>
        <p:spPr>
          <a:xfrm>
            <a:off x="409320" y="4125230"/>
            <a:ext cx="518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问题与解决方案</a:t>
            </a:r>
            <a:endParaRPr lang="zh-CN" altLang="en-US" sz="2800" b="1"/>
          </a:p>
        </p:txBody>
      </p:sp>
      <p:sp>
        <p:nvSpPr>
          <p:cNvPr id="23" name="文本占位符 8"/>
          <p:cNvSpPr/>
          <p:nvPr>
            <p:custDataLst>
              <p:tags r:id="rId9"/>
            </p:custDataLst>
          </p:nvPr>
        </p:nvSpPr>
        <p:spPr>
          <a:xfrm>
            <a:off x="409320" y="4684030"/>
            <a:ext cx="5181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解决数据路径匹配错误、模型过拟合、小类别识别准确率低、训练速度慢等问题，给出对应解决方案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23/24</a:t>
            </a:r>
            <a:endParaRPr lang="en-US" altLang="zh-CN" b="1"/>
          </a:p>
        </p:txBody>
      </p:sp>
    </p:spTree>
    <p:custDataLst>
      <p:tags r:id="rId10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/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/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24/24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85228c7e3e4c934a1adf210d2c15dff38fa29ee"/>
  <p:tag name="KSO_WM_NEWLAYOUT_ID" val="2222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e4a14e1d354d52dbf0d3cd22a3ad64011c52f4"/>
  <p:tag name="KSO_WM_NEWLAYOUT_GROUP_ID" val="layout_6"/>
  <p:tag name="KSO_WM_NEWLAYOUT_ID" val="slide_594318aaf3030d73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9c4bbef614c7c91056a6e90c1d20e87b947257"/>
  <p:tag name="KSO_WM_NEWLAYOUT_GROUP_ID" val="layout_62"/>
  <p:tag name="KSO_WM_NEWLAYOUT_ID" val="slide_200f6023f42ff4b4"/>
</p:tagLst>
</file>

<file path=ppt/tags/tag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7b43421163e40c36f4630509383a6a464120d5"/>
  <p:tag name="KSO_WM_NEWLAYOUT_GROUP_ID" val="layout_30"/>
  <p:tag name="KSO_WM_NEWLAYOUT_ID" val="slide_e6fc15e515dead05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55cbae31a57b8fc349fa09f08c06e3557c31d3"/>
  <p:tag name="KSO_WM_NEWLAYOUT_GROUP_ID" val="layout_60"/>
  <p:tag name="KSO_WM_NEWLAYOUT_ID" val="slide_2e2dbdde591b2dc4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8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46e258b0db79f852d4b141dcbdd4a43ad1cc27"/>
  <p:tag name="KSO_WM_NEWLAYOUT_GROUP_ID" val="layout_59"/>
  <p:tag name="KSO_WM_NEWLAYOUT_ID" val="slide_0b31d42d75cc12df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e09ed58d6d68c6403ed19f96d9f98969b5d651"/>
  <p:tag name="KSO_WM_NEWLAYOUT_GROUP_ID" val="layout_10008"/>
  <p:tag name="KSO_WM_NEWLAYOUT_ID" val="slide_ffa1360b5373f739"/>
</p:tagLst>
</file>

<file path=ppt/tags/tag75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8ddc19df8e3bb99d634f91884df66c0d1694dd5"/>
  <p:tag name="KSO_WM_NEWLAYOUT_GROUP_ID" val="layout_10013"/>
  <p:tag name="KSO_WM_NEWLAYOUT_ID" val="slide_47ddc0f3e0d84bd1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29ef12a8dfdb8436519c68581dbf87d056ae43"/>
  <p:tag name="KSO_WM_NEWLAYOUT_GROUP_ID" val="layout_57"/>
  <p:tag name="KSO_WM_NEWLAYOUT_ID" val="slide_ef2b270f7310fad4"/>
</p:tagLst>
</file>

<file path=ppt/tags/tag9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efb992e75be567e63a100332e00cdcbe8b961e"/>
  <p:tag name="KSO_WM_NEWLAYOUT_GROUP_ID" val="layout_51"/>
  <p:tag name="KSO_WM_NEWLAYOUT_ID" val="slide_3caf32f083888fcf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1ba6ecdeff4d545c06c5fa5900b6ad5a05c2a1"/>
  <p:tag name="KSO_WM_NEWLAYOUT_GROUP_ID" val="layout_63"/>
  <p:tag name="KSO_WM_NEWLAYOUT_ID" val="slide_f8237b5359323683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50b6edfaa49a876022224e1a7fbecd58d76901"/>
  <p:tag name="KSO_WM_NEWLAYOUT_GROUP_ID" val="layout_2"/>
  <p:tag name="KSO_WM_NEWLAYOUT_ID" val="slide_601b8a6f8f27b735"/>
</p:tagLst>
</file>

<file path=ppt/tags/tag1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05b0780ca7059d2ce80f9d15dc09f7eb9b7785"/>
  <p:tag name="KSO_WM_NEWLAYOUT_GROUP_ID" val="layout_10004"/>
  <p:tag name="KSO_WM_NEWLAYOUT_ID" val="slide_fc5e6fce07636398"/>
</p:tagLst>
</file>

<file path=ppt/tags/tag1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9e0c5502fccb9e629961bfefd0287b051af8ac"/>
  <p:tag name="KSO_WM_NEWLAYOUT_GROUP_ID" val="layout_42"/>
  <p:tag name="KSO_WM_NEWLAYOUT_ID" val="slide_e1461cd84873efff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17a7ed22fca782143a763889a9e0d9019d61c"/>
  <p:tag name="KSO_WM_NEWLAYOUT_GROUP_ID" val="layout_10007"/>
  <p:tag name="KSO_WM_NEWLAYOUT_ID" val="slide_6b62f1f9edcefd50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95f3e2c1437632e8e8500c25e1410bbc7e1558"/>
  <p:tag name="KSO_WM_NEWLAYOUT_GROUP_ID" val="layout_26"/>
  <p:tag name="KSO_WM_NEWLAYOUT_ID" val="slide_f2f0a703e5376311"/>
</p:tagLst>
</file>

<file path=ppt/tags/tag1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704b120ec8e60e0f198420c4627d72724e84d6"/>
  <p:tag name="KSO_WM_NEWLAYOUT_GROUP_ID" val="layout_34"/>
  <p:tag name="KSO_WM_NEWLAYOUT_ID" val="slide_4acdb5d565d7a68b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4bbec9a1932e58837263e7e2d353d74234f2ce"/>
  <p:tag name="KSO_WM_NEWLAYOUT_GROUP_ID" val="layout_10003"/>
  <p:tag name="KSO_WM_NEWLAYOUT_ID" val="slide_10cd397e0139f3d8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1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fd3e8554be64cde679cccd6e5820d7b9826f365"/>
  <p:tag name="KSO_WM_NEWLAYOUT_GROUP_ID" val="layout_1-5"/>
  <p:tag name="KSO_WM_NEWLAYOUT_ID" val="slide_ba60fb0293b23fd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5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4"/>
  <p:tag name="KSO_WM_TEMPLATE_INDEX" val="40490428"/>
  <p:tag name="KSO_WM_TEMPLATE_CATEGORY" val="custom"/>
</p:tagLst>
</file>

<file path=ppt/tags/tag26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6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7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7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7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7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7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28"/>
  <p:tag name="KSO_WM_TEMPLATE_CATEGORY" val="custom"/>
</p:tagLst>
</file>

<file path=ppt/tags/tag27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28"/>
  <p:tag name="KSO_WM_TEMPLATE_CATEGORY" val="custom"/>
</p:tagLst>
</file>

<file path=ppt/tags/tag27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28"/>
  <p:tag name="KSO_WM_TEMPLATE_CATEGORY" val="custom"/>
</p:tagLst>
</file>

<file path=ppt/tags/tag27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28"/>
  <p:tag name="KSO_WM_TEMPLATE_CATEGORY" val="custom"/>
</p:tagLst>
</file>

<file path=ppt/tags/tag27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8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8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8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9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2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28"/>
  <p:tag name="KSO_WM_TEMPLATE_CATEGORY" val="custom"/>
</p:tagLst>
</file>

<file path=ppt/tags/tag2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0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4cf3a283cdb0254b1e3fb0f1572e4ad2c012bac"/>
  <p:tag name="KSO_WM_NEWLAYOUT_ID" val="2210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3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85228c7e3e4c934a1adf210d2c15dff38fa29ee"/>
  <p:tag name="KSO_WM_NEWLAYOUT_ID" val="2222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3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b45f46c5e05d8ef4c421c483f22bfa2d15a3fb0"/>
  <p:tag name="KSO_WM_NEWLAYOUT_ID" val="1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fa2b01daf5382634edc12bf1fc99999b25e74"/>
  <p:tag name="KSO_WM_NEWLAYOUT_ID" val="slide_2faf873680021aa9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05e58d7f879212e03fc97ed2c7aaeaeb51c883"/>
  <p:tag name="KSO_WM_NEWLAYOUT_ID" val="slide_2e5f3f4c52aaa365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ba3cc63d1e14e1b9b037b72751c6a16a4fbd1e"/>
  <p:tag name="KSO_WM_NEWLAYOUT_ID" val="slide_4be6a3c4459a92c6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f453a7fe5de9df945c82664f889fffa711de97"/>
  <p:tag name="KSO_WM_NEWLAYOUT_ID" val="slide_2b722741941e6e84"/>
</p:tagLst>
</file>

<file path=ppt/tags/tag3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46adebbd25b9b3bb2431eacd19826b364e59ee"/>
  <p:tag name="KSO_WM_NEWLAYOUT_ID" val="slide_d5460184b27bee0c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ID" val="slide_1b8e207f8b04e0fb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fa243e2610e47a46253a7d923417c7f34a33ce"/>
  <p:tag name="KSO_WM_NEWLAYOUT_ID" val="slide_21796765dccdbba9"/>
</p:tagLst>
</file>

<file path=ppt/tags/tag4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ff121d1535649a898c9d4b3c82321c2b2e49db"/>
  <p:tag name="KSO_WM_NEWLAYOUT_ID" val="slide_bee122408cccfc36"/>
</p:tagLst>
</file>

<file path=ppt/tags/tag4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05e3ac41efa97c4b6090fe7f563bf9ca752572"/>
  <p:tag name="KSO_WM_NEWLAYOUT_ID" val="slide_d6aadfc9328b914e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5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428"/>
</p:tagLst>
</file>

<file path=ppt/tags/tag44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428"/>
</p:tagLst>
</file>

<file path=ppt/tags/tag44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7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428"/>
  <p:tag name="KSO_WM_TEMPLATE_CATEGORY" val="custom"/>
  <p:tag name="KSO_WM_TEMPLATE_MASTER_TYPE" val="0"/>
  <p:tag name="KSO_WM_TAG_VERSION" val="3.0"/>
</p:tagLst>
</file>

<file path=ppt/tags/tag44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4cf3a283cdb0254b1e3fb0f1572e4ad2c012bac"/>
  <p:tag name="KSO_WM_NEWLAYOUT_ID" val="2210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4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5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428"/>
  <p:tag name="KSO_WM_TEMPLATE_CATEGORY" val="custom"/>
  <p:tag name="KSO_WM_SLIDE_INDEX" val="1"/>
  <p:tag name="KSO_WM_SLIDE_ID" val="custom40490428_1"/>
  <p:tag name="KSO_WM_TEMPLATE_MASTER_TYPE" val="0"/>
  <p:tag name="KSO_WM_SLIDE_LAYOUT" val="a_f"/>
  <p:tag name="KSO_WM_SLIDE_LAYOUT_CNT" val="1_2"/>
  <p:tag name="KSO_WM_TAG_VERSION" val="3.0"/>
</p:tagLst>
</file>

<file path=ppt/tags/tag4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5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fd3e8554be64cde679cccd6e5820d7b9826f365"/>
  <p:tag name="KSO_WM_NEWLAYOUT_GROUP_ID" val="layout_1-5"/>
  <p:tag name="KSO_WM_NEWLAYOUT_ID" val="slide_ba60fb0293b23fda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4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471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29514"/>
  <p:tag name="KSO_WM_TEMPLATE_SLIDE_ID" val="slide_ba60fb0293b23fda"/>
</p:tagLst>
</file>

<file path=ppt/tags/tag47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7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7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4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4bbec9a1932e58837263e7e2d353d74234f2ce"/>
  <p:tag name="KSO_WM_NEWLAYOUT_GROUP_ID" val="layout_10003"/>
  <p:tag name="KSO_WM_NEWLAYOUT_ID" val="slide_10cd397e0139f3d8"/>
  <p:tag name="KSO_WM_UNIT_PRESET_TEXT" val="单击此处添加标题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8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10cd397e0139f3d8"/>
</p:tagLst>
</file>

<file path=ppt/tags/tag4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704b120ec8e60e0f198420c4627d72724e84d6"/>
  <p:tag name="KSO_WM_NEWLAYOUT_GROUP_ID" val="layout_34"/>
  <p:tag name="KSO_WM_NEWLAYOUT_ID" val="slide_4acdb5d565d7a68b"/>
  <p:tag name="KSO_WM_UNIT_PRESET_TEXT" val="单击此处添加标题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500751296&quot;,&quot;product_name&quot;:&quot;365wps-copilotchat-web&quot;,&quot;intention_code&quot;:&quot;365wps_cc_create_ppt&quot;}*gallery_gallery_ai_v2.2.0_ONLINE*31663766346439633463643335623833-slide-4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644181949553bf98ea6f762-slide-0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211235003031&quot;,&quot;product_name&quot;:&quot;365wps-copilotchat-web&quot;,&quot;intention_code&quot;:&quot;365wps_cc_create_ppt&quot;}*gallery_gallery_ai_v2.2.0_ONLINE*31663766346439633463643335623833-slide-4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4acdb5d565d7a68b"/>
</p:tagLst>
</file>

<file path=ppt/tags/tag49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98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49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5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17a7ed22fca782143a763889a9e0d9019d61c"/>
  <p:tag name="KSO_WM_NEWLAYOUT_GROUP_ID" val="layout_10007"/>
  <p:tag name="KSO_WM_NEWLAYOUT_ID" val="slide_6b62f1f9edcefd50"/>
  <p:tag name="KSO_WM_UNIT_PRESET_TEXT" val="单击此处添加标题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6b62f1f9edcefd50"/>
</p:tagLst>
</file>

<file path=ppt/tags/tag5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0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1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5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GROUP_ID" val="layout_2"/>
  <p:tag name="KSO_WM_NEWLAYOUT_ID" val="slide_1b8e207f8b04e0fb"/>
  <p:tag name="KSO_WM_UNIT_PRESET_TEXT" val="单击此处添加标题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PRESET_TEXT" val="单击添加项标题"/>
  <p:tag name="KSO_WM_UNIT_TYPE" val="l_h_a"/>
</p:tagLst>
</file>

<file path=ppt/tags/tag5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1b8e207f8b04e0fb"/>
</p:tagLst>
</file>

<file path=ppt/tags/tag5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GROUP_ID" val="layout_2"/>
  <p:tag name="KSO_WM_NEWLAYOUT_ID" val="slide_1b8e207f8b04e0fb"/>
  <p:tag name="KSO_WM_UNIT_PRESET_TEXT" val="单击此处添加标题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PRESET_TEXT" val="单击添加项标题"/>
  <p:tag name="KSO_WM_UNIT_TYPE" val="l_h_a"/>
</p:tagLst>
</file>

<file path=ppt/tags/tag5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PRESET_TEXT" val="单击添加项标题"/>
  <p:tag name="KSO_WM_UNIT_TYPE" val="l_h_a"/>
</p:tagLst>
</file>

<file path=ppt/tags/tag5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1b8e207f8b04e0fb"/>
</p:tagLst>
</file>

<file path=ppt/tags/tag5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GROUP_ID" val="layout_2"/>
  <p:tag name="KSO_WM_NEWLAYOUT_ID" val="slide_1b8e207f8b04e0fb"/>
  <p:tag name="KSO_WM_UNIT_PRESET_TEXT" val="单击此处添加标题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PRESET_TEXT" val="单击添加项标题"/>
  <p:tag name="KSO_WM_UNIT_TYPE" val="l_h_a"/>
</p:tagLst>
</file>

<file path=ppt/tags/tag5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1b8e207f8b04e0fb"/>
</p:tagLst>
</file>

<file path=ppt/tags/tag5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3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3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5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ba3cc63d1e14e1b9b037b72751c6a16a4fbd1e"/>
  <p:tag name="KSO_WM_NEWLAYOUT_GROUP_ID" val="layout_10013"/>
  <p:tag name="KSO_WM_NEWLAYOUT_ID" val="slide_4be6a3c4459a92c6"/>
  <p:tag name="KSO_WM_UNIT_PRESET_TEXT" val="单击此处添加标题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3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4be6a3c4459a92c6"/>
</p:tagLst>
</file>

<file path=ppt/tags/tag5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05e58d7f879212e03fc97ed2c7aaeaeb51c883"/>
  <p:tag name="KSO_WM_NEWLAYOUT_GROUP_ID" val="layout_10008"/>
  <p:tag name="KSO_WM_NEWLAYOUT_ID" val="slide_2e5f3f4c52aaa365"/>
  <p:tag name="KSO_WM_UNIT_PRESET_TEXT" val="单击此处添加标题"/>
</p:tagLst>
</file>

<file path=ppt/tags/tag5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3caf32f083888fcf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05e58d7f879212e03fc97ed2c7aaeaeb51c883"/>
  <p:tag name="KSO_WM_NEWLAYOUT_GROUP_ID" val="layout_10008"/>
  <p:tag name="KSO_WM_NEWLAYOUT_ID" val="slide_2e5f3f4c52aaa365"/>
  <p:tag name="KSO_WM_UNIT_PRESET_TEXT" val="单击此处添加标题"/>
</p:tagLst>
</file>

<file path=ppt/tags/tag55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514"/>
  <p:tag name="KSO_WM_TEMPLATE_SLIDE_ID" val="slide_10cd397e0139f3d8"/>
</p:tagLst>
</file>

<file path=ppt/tags/tag55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ef2b270f7310fad4"/>
</p:tagLst>
</file>

<file path=ppt/tags/tag5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ef2b270f7310fad4"/>
</p:tagLst>
</file>

<file path=ppt/tags/tag55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ef2b270f7310fad4"/>
</p:tagLst>
</file>

<file path=ppt/tags/tag55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5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5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5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7b43421163e40c36f4630509383a6a464120d5"/>
  <p:tag name="KSO_WM_NEWLAYOUT_GROUP_ID" val="layout_30"/>
  <p:tag name="KSO_WM_NEWLAYOUT_ID" val="slide_e6fc15e515dead05"/>
  <p:tag name="KSO_WM_UNIT_PRESET_TEXT" val="单击此处添加标题"/>
</p:tagLst>
</file>

<file path=ppt/tags/tag5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e6fc15e515dead05"/>
</p:tagLst>
</file>

<file path=ppt/tags/tag5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7b43421163e40c36f4630509383a6a464120d5"/>
  <p:tag name="KSO_WM_NEWLAYOUT_GROUP_ID" val="layout_30"/>
  <p:tag name="KSO_WM_NEWLAYOUT_ID" val="slide_e6fc15e515dead05"/>
  <p:tag name="KSO_WM_UNIT_PRESET_TEXT" val="单击此处添加标题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e6fc15e515dead05"/>
</p:tagLst>
</file>

<file path=ppt/tags/tag56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75b3ff66a79b257dc8fa9e32565c50357b2ac62"/>
  <p:tag name="KSO_WM_NEWLAYOUT_ID" val="221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6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7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428"/>
  <p:tag name="KSO_WM_TEMPLATE_CATEGORY" val="custom"/>
  <p:tag name="KSO_WM_SLIDE_INDEX" val="3"/>
  <p:tag name="KSO_WM_SLIDE_ID" val="custom40490428_7"/>
  <p:tag name="KSO_WM_TEMPLATE_MASTER_TYPE" val="0"/>
  <p:tag name="KSO_WM_SLIDE_LAYOUT" val="a_e"/>
  <p:tag name="KSO_WM_SLIDE_LAYOUT_CNT" val="1_1"/>
  <p:tag name="KSO_WM_TAG_VERSION" val="3.0"/>
</p:tagLst>
</file>

<file path=ppt/tags/tag5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fa2b01daf5382634edc12bf1fc99999b25e74"/>
  <p:tag name="KSO_WM_NEWLAYOUT_GROUP_ID" val="layout_6"/>
  <p:tag name="KSO_WM_NEWLAYOUT_ID" val="slide_2faf873680021aa9"/>
  <p:tag name="KSO_WM_UNIT_PRESET_TEXT" val="单击此处添加标题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2faf873680021aa9"/>
</p:tagLst>
</file>

<file path=ppt/tags/tag581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8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85228c7e3e4c934a1adf210d2c15dff38fa29ee"/>
  <p:tag name="KSO_WM_NEWLAYOUT_ID" val="2222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28"/>
  <p:tag name="KSO_WM_TEMPLATE_CATEGORY" val="custom"/>
</p:tagLst>
</file>

<file path=ppt/tags/tag58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428"/>
  <p:tag name="KSO_WM_TEMPLATE_CATEGORY" val="custom"/>
  <p:tag name="KSO_WM_SLIDE_INDEX" val="5"/>
  <p:tag name="KSO_WM_SLIDE_ID" val="custom40490428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默认配色">
      <a:dk1>
        <a:srgbClr val="000000"/>
      </a:dk1>
      <a:lt1>
        <a:srgbClr val="FFFFFF"/>
      </a:lt1>
      <a:dk2>
        <a:srgbClr val="001548"/>
      </a:dk2>
      <a:lt2>
        <a:srgbClr val="E2DDF9"/>
      </a:lt2>
      <a:accent1>
        <a:srgbClr val="7257E3"/>
      </a:accent1>
      <a:accent2>
        <a:srgbClr val="4872EA"/>
      </a:accent2>
      <a:accent3>
        <a:srgbClr val="FFC000"/>
      </a:accent3>
      <a:accent4>
        <a:srgbClr val="C967C4"/>
      </a:accent4>
      <a:accent5>
        <a:srgbClr val="92D050"/>
      </a:accent5>
      <a:accent6>
        <a:srgbClr val="FF6C1E"/>
      </a:accent6>
      <a:hlink>
        <a:srgbClr val="304FFE"/>
      </a:hlink>
      <a:folHlink>
        <a:srgbClr val="7257E3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默认配色">
      <a:dk1>
        <a:srgbClr val="000000"/>
      </a:dk1>
      <a:lt1>
        <a:srgbClr val="FFFFFF"/>
      </a:lt1>
      <a:dk2>
        <a:srgbClr val="001548"/>
      </a:dk2>
      <a:lt2>
        <a:srgbClr val="E2DDF9"/>
      </a:lt2>
      <a:accent1>
        <a:srgbClr val="7257E3"/>
      </a:accent1>
      <a:accent2>
        <a:srgbClr val="4872EA"/>
      </a:accent2>
      <a:accent3>
        <a:srgbClr val="FFC000"/>
      </a:accent3>
      <a:accent4>
        <a:srgbClr val="C967C4"/>
      </a:accent4>
      <a:accent5>
        <a:srgbClr val="92D050"/>
      </a:accent5>
      <a:accent6>
        <a:srgbClr val="FF6C1E"/>
      </a:accent6>
      <a:hlink>
        <a:srgbClr val="304FFE"/>
      </a:hlink>
      <a:folHlink>
        <a:srgbClr val="7257E3"/>
      </a:folHlink>
    </a:clrScheme>
    <a:fontScheme name="自定义 6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2278</Words>
  <Application>WPS 演示</Application>
  <PresentationFormat>宽屏</PresentationFormat>
  <Paragraphs>290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江城圆体 600W</vt:lpstr>
      <vt:lpstr>Arial Unicode MS</vt:lpstr>
      <vt:lpstr>Calibri</vt:lpstr>
      <vt:lpstr>Office 主题</vt:lpstr>
      <vt:lpstr>Office 主题​​</vt:lpstr>
      <vt:lpstr>基于MobileNetViT的交通标志检测系统设计与实现</vt:lpstr>
      <vt:lpstr>目录</vt:lpstr>
      <vt:lpstr>引言</vt:lpstr>
      <vt:lpstr>研究背景及意义</vt:lpstr>
      <vt:lpstr>模型背景</vt:lpstr>
      <vt:lpstr>数据集介绍</vt:lpstr>
      <vt:lpstr>数据集介绍</vt:lpstr>
      <vt:lpstr>模型设计</vt:lpstr>
      <vt:lpstr>模型结构设计</vt:lpstr>
      <vt:lpstr>模型结构设计</vt:lpstr>
      <vt:lpstr>模型结构设计</vt:lpstr>
      <vt:lpstr>实验过程及对比</vt:lpstr>
      <vt:lpstr>训练步骤</vt:lpstr>
      <vt:lpstr>参数设置实验方案</vt:lpstr>
      <vt:lpstr>参数设置实验方案：激活函数</vt:lpstr>
      <vt:lpstr>PowerPoint 演示文稿</vt:lpstr>
      <vt:lpstr>PowerPoint 演示文稿</vt:lpstr>
      <vt:lpstr>PowerPoint 演示文稿</vt:lpstr>
      <vt:lpstr>实验可视化分析</vt:lpstr>
      <vt:lpstr>可视化分析</vt:lpstr>
      <vt:lpstr>可视化分析</vt:lpstr>
      <vt:lpstr>总结与展望</vt:lpstr>
      <vt:lpstr>实验总结和未来展望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基于MobileNetViT的交通标志检测系统设计与实现</dc:title>
  <dc:creator/>
  <cp:lastModifiedBy>令月壹拾壹.</cp:lastModifiedBy>
  <cp:revision>13</cp:revision>
  <dcterms:created xsi:type="dcterms:W3CDTF">1900-01-01T00:00:00Z</dcterms:created>
  <dcterms:modified xsi:type="dcterms:W3CDTF">2025-12-05T12:53:33Z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v1.0_ai_69796629514</vt:lpwstr>
  </property>
</Properties>
</file>